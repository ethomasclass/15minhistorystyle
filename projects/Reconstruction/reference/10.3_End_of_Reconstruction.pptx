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Ubuntu Light"/>
      <p:regular r:id="rId16"/>
      <p:bold r:id="rId17"/>
      <p:italic r:id="rId18"/>
      <p:boldItalic r:id="rId19"/>
    </p:embeddedFont>
    <p:embeddedFont>
      <p:font typeface="Nunito"/>
      <p:regular r:id="rId20"/>
      <p:bold r:id="rId21"/>
      <p:italic r:id="rId22"/>
      <p:boldItalic r:id="rId23"/>
    </p:embeddedFont>
    <p:embeddedFont>
      <p:font typeface="Roboto Condensed"/>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regular.fntdata"/><Relationship Id="rId22" Type="http://schemas.openxmlformats.org/officeDocument/2006/relationships/font" Target="fonts/Nunito-italic.fntdata"/><Relationship Id="rId21" Type="http://schemas.openxmlformats.org/officeDocument/2006/relationships/font" Target="fonts/Nunito-bold.fntdata"/><Relationship Id="rId24" Type="http://schemas.openxmlformats.org/officeDocument/2006/relationships/font" Target="fonts/RobotoCondensed-regular.fntdata"/><Relationship Id="rId23" Type="http://schemas.openxmlformats.org/officeDocument/2006/relationships/font" Target="fonts/Nuni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Condensed-italic.fntdata"/><Relationship Id="rId25" Type="http://schemas.openxmlformats.org/officeDocument/2006/relationships/font" Target="fonts/RobotoCondensed-bold.fntdata"/><Relationship Id="rId28" Type="http://schemas.openxmlformats.org/officeDocument/2006/relationships/font" Target="fonts/Oswald-regular.fntdata"/><Relationship Id="rId27" Type="http://schemas.openxmlformats.org/officeDocument/2006/relationships/font" Target="fonts/RobotoCondense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swald-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UbuntuLight-bold.fntdata"/><Relationship Id="rId16" Type="http://schemas.openxmlformats.org/officeDocument/2006/relationships/font" Target="fonts/UbuntuLight-regular.fntdata"/><Relationship Id="rId19" Type="http://schemas.openxmlformats.org/officeDocument/2006/relationships/font" Target="fonts/UbuntuLight-boldItalic.fntdata"/><Relationship Id="rId18" Type="http://schemas.openxmlformats.org/officeDocument/2006/relationships/font" Target="fonts/Ubuntu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fae0161ff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fae0161ff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fbaaffb28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fbaaffb28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1d2f8284e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1d2f8284e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fbaaffb28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fbaaffb28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fbaaffb28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fbaaffb28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fbaaffb28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fbaaffb28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fbaaffb28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fbaaffb28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fbaaffb28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fbaaffb28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fbaaffb28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fbaaffb28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3.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3.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hyperlink" Target="http://www.youtube.com/watch?v=7o-uNsOMeV4" TargetMode="External"/><Relationship Id="rId5" Type="http://schemas.openxmlformats.org/officeDocument/2006/relationships/image" Target="../media/image5.jpg"/><Relationship Id="rId6"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4587"/>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4000" cy="5143500"/>
          </a:xfrm>
          <a:prstGeom prst="rect">
            <a:avLst/>
          </a:prstGeom>
          <a:noFill/>
          <a:ln>
            <a:noFill/>
          </a:ln>
        </p:spPr>
      </p:pic>
      <p:sp>
        <p:nvSpPr>
          <p:cNvPr id="55" name="Google Shape;55;p13"/>
          <p:cNvSpPr/>
          <p:nvPr/>
        </p:nvSpPr>
        <p:spPr>
          <a:xfrm>
            <a:off x="281350" y="271300"/>
            <a:ext cx="8550900" cy="4612200"/>
          </a:xfrm>
          <a:prstGeom prst="rect">
            <a:avLst/>
          </a:prstGeom>
          <a:noFill/>
          <a:ln cap="flat" cmpd="sng" w="762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nvSpPr>
        <p:spPr>
          <a:xfrm>
            <a:off x="296500" y="1482875"/>
            <a:ext cx="8520600" cy="18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FFFFFF"/>
                </a:solidFill>
                <a:latin typeface="Oswald"/>
                <a:ea typeface="Oswald"/>
                <a:cs typeface="Oswald"/>
                <a:sym typeface="Oswald"/>
              </a:rPr>
              <a:t>10.3</a:t>
            </a:r>
            <a:endParaRPr b="1" sz="2500">
              <a:solidFill>
                <a:srgbClr val="FFFFFF"/>
              </a:solidFill>
              <a:latin typeface="Oswald"/>
              <a:ea typeface="Oswald"/>
              <a:cs typeface="Oswald"/>
              <a:sym typeface="Oswald"/>
            </a:endParaRPr>
          </a:p>
          <a:p>
            <a:pPr indent="0" lvl="0" marL="0" rtl="0" algn="ctr">
              <a:spcBef>
                <a:spcPts val="0"/>
              </a:spcBef>
              <a:spcAft>
                <a:spcPts val="0"/>
              </a:spcAft>
              <a:buNone/>
            </a:pPr>
            <a:r>
              <a:rPr b="1" lang="en" sz="11100">
                <a:solidFill>
                  <a:srgbClr val="FFFFFF"/>
                </a:solidFill>
                <a:latin typeface="Oswald"/>
                <a:ea typeface="Oswald"/>
                <a:cs typeface="Oswald"/>
                <a:sym typeface="Oswald"/>
              </a:rPr>
              <a:t>THE END OF </a:t>
            </a:r>
            <a:r>
              <a:rPr b="1" lang="en" sz="7200">
                <a:solidFill>
                  <a:srgbClr val="FFFFFF"/>
                </a:solidFill>
                <a:latin typeface="Oswald"/>
                <a:ea typeface="Oswald"/>
                <a:cs typeface="Oswald"/>
                <a:sym typeface="Oswald"/>
              </a:rPr>
              <a:t>RECONSTRUCTION</a:t>
            </a:r>
            <a:endParaRPr b="1" sz="3800">
              <a:solidFill>
                <a:srgbClr val="FFFFFF"/>
              </a:solidFill>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0" y="0"/>
            <a:ext cx="9144000" cy="5143500"/>
          </a:xfrm>
          <a:prstGeom prst="rect">
            <a:avLst/>
          </a:prstGeom>
          <a:noFill/>
          <a:ln>
            <a:noFill/>
          </a:ln>
        </p:spPr>
      </p:pic>
      <p:sp>
        <p:nvSpPr>
          <p:cNvPr id="62" name="Google Shape;62;p14"/>
          <p:cNvSpPr/>
          <p:nvPr/>
        </p:nvSpPr>
        <p:spPr>
          <a:xfrm>
            <a:off x="281350" y="271300"/>
            <a:ext cx="8550900" cy="4612200"/>
          </a:xfrm>
          <a:prstGeom prst="rect">
            <a:avLst/>
          </a:prstGeom>
          <a:no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14"/>
          <p:cNvGrpSpPr/>
          <p:nvPr/>
        </p:nvGrpSpPr>
        <p:grpSpPr>
          <a:xfrm>
            <a:off x="543112" y="1213904"/>
            <a:ext cx="8057799" cy="2914440"/>
            <a:chOff x="794625" y="1696238"/>
            <a:chExt cx="7529950" cy="2452200"/>
          </a:xfrm>
        </p:grpSpPr>
        <p:grpSp>
          <p:nvGrpSpPr>
            <p:cNvPr id="64" name="Google Shape;64;p14"/>
            <p:cNvGrpSpPr/>
            <p:nvPr/>
          </p:nvGrpSpPr>
          <p:grpSpPr>
            <a:xfrm>
              <a:off x="5943175" y="1696238"/>
              <a:ext cx="2381400" cy="2452200"/>
              <a:chOff x="6093675" y="1629425"/>
              <a:chExt cx="2381400" cy="2452200"/>
            </a:xfrm>
          </p:grpSpPr>
          <p:sp>
            <p:nvSpPr>
              <p:cNvPr id="65" name="Google Shape;65;p14"/>
              <p:cNvSpPr/>
              <p:nvPr/>
            </p:nvSpPr>
            <p:spPr>
              <a:xfrm>
                <a:off x="6093675" y="1629425"/>
                <a:ext cx="2381400" cy="469200"/>
              </a:xfrm>
              <a:prstGeom prst="parallelogram">
                <a:avLst>
                  <a:gd fmla="val 25000" name="adj"/>
                </a:avLst>
              </a:prstGeom>
              <a:solidFill>
                <a:srgbClr val="99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rgbClr val="FFFFFF"/>
                    </a:solidFill>
                    <a:latin typeface="Nunito"/>
                    <a:ea typeface="Nunito"/>
                    <a:cs typeface="Nunito"/>
                    <a:sym typeface="Nunito"/>
                  </a:rPr>
                  <a:t>HOMEWORK</a:t>
                </a:r>
                <a:endParaRPr b="1" sz="2100">
                  <a:solidFill>
                    <a:srgbClr val="FFFFFF"/>
                  </a:solidFill>
                  <a:latin typeface="Nunito"/>
                  <a:ea typeface="Nunito"/>
                  <a:cs typeface="Nunito"/>
                  <a:sym typeface="Nunito"/>
                </a:endParaRPr>
              </a:p>
            </p:txBody>
          </p:sp>
          <p:sp>
            <p:nvSpPr>
              <p:cNvPr id="66" name="Google Shape;66;p14"/>
              <p:cNvSpPr txBox="1"/>
              <p:nvPr/>
            </p:nvSpPr>
            <p:spPr>
              <a:xfrm>
                <a:off x="6117350" y="2116325"/>
                <a:ext cx="2230800" cy="19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FFFFFF"/>
                    </a:solidFill>
                  </a:rPr>
                  <a:t>START STUDYING FOR  EXAM!</a:t>
                </a:r>
                <a:endParaRPr sz="1700">
                  <a:solidFill>
                    <a:srgbClr val="FFFFFF"/>
                  </a:solidFill>
                </a:endParaRPr>
              </a:p>
            </p:txBody>
          </p:sp>
        </p:grpSp>
        <p:grpSp>
          <p:nvGrpSpPr>
            <p:cNvPr id="67" name="Google Shape;67;p14"/>
            <p:cNvGrpSpPr/>
            <p:nvPr/>
          </p:nvGrpSpPr>
          <p:grpSpPr>
            <a:xfrm>
              <a:off x="3368900" y="1696238"/>
              <a:ext cx="2381400" cy="2452200"/>
              <a:chOff x="6093675" y="1629425"/>
              <a:chExt cx="2381400" cy="2452200"/>
            </a:xfrm>
          </p:grpSpPr>
          <p:sp>
            <p:nvSpPr>
              <p:cNvPr id="68" name="Google Shape;68;p14"/>
              <p:cNvSpPr/>
              <p:nvPr/>
            </p:nvSpPr>
            <p:spPr>
              <a:xfrm>
                <a:off x="6093675" y="1629425"/>
                <a:ext cx="2381400" cy="469200"/>
              </a:xfrm>
              <a:prstGeom prst="parallelogram">
                <a:avLst>
                  <a:gd fmla="val 25000" name="adj"/>
                </a:avLst>
              </a:prstGeom>
              <a:solidFill>
                <a:srgbClr val="1155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rgbClr val="FFFFFF"/>
                    </a:solidFill>
                    <a:latin typeface="Nunito"/>
                    <a:ea typeface="Nunito"/>
                    <a:cs typeface="Nunito"/>
                    <a:sym typeface="Nunito"/>
                  </a:rPr>
                  <a:t>AGENDA</a:t>
                </a:r>
                <a:endParaRPr b="1" sz="2100">
                  <a:solidFill>
                    <a:srgbClr val="FFFFFF"/>
                  </a:solidFill>
                  <a:latin typeface="Nunito"/>
                  <a:ea typeface="Nunito"/>
                  <a:cs typeface="Nunito"/>
                  <a:sym typeface="Nunito"/>
                </a:endParaRPr>
              </a:p>
            </p:txBody>
          </p:sp>
          <p:sp>
            <p:nvSpPr>
              <p:cNvPr id="69" name="Google Shape;69;p14"/>
              <p:cNvSpPr txBox="1"/>
              <p:nvPr/>
            </p:nvSpPr>
            <p:spPr>
              <a:xfrm>
                <a:off x="6117350" y="2116325"/>
                <a:ext cx="2230800" cy="1965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rgbClr val="FFFFFF"/>
                  </a:solidFill>
                  <a:latin typeface="Roboto Condensed"/>
                  <a:ea typeface="Roboto Condensed"/>
                  <a:cs typeface="Roboto Condensed"/>
                  <a:sym typeface="Roboto Condensed"/>
                </a:endParaRPr>
              </a:p>
              <a:p>
                <a:pPr indent="-361950" lvl="0" marL="457200" rtl="0" algn="l">
                  <a:spcBef>
                    <a:spcPts val="0"/>
                  </a:spcBef>
                  <a:spcAft>
                    <a:spcPts val="0"/>
                  </a:spcAft>
                  <a:buClr>
                    <a:srgbClr val="FFFFFF"/>
                  </a:buClr>
                  <a:buSzPts val="2100"/>
                  <a:buFont typeface="Roboto Condensed"/>
                  <a:buChar char="●"/>
                </a:pPr>
                <a:r>
                  <a:rPr lang="en" sz="2100">
                    <a:solidFill>
                      <a:srgbClr val="FFFFFF"/>
                    </a:solidFill>
                    <a:latin typeface="Roboto Condensed"/>
                    <a:ea typeface="Roboto Condensed"/>
                    <a:cs typeface="Roboto Condensed"/>
                    <a:sym typeface="Roboto Condensed"/>
                  </a:rPr>
                  <a:t>Finish Sharecropping Sim</a:t>
                </a:r>
                <a:endParaRPr sz="2100">
                  <a:solidFill>
                    <a:srgbClr val="FFFFFF"/>
                  </a:solidFill>
                  <a:latin typeface="Roboto Condensed"/>
                  <a:ea typeface="Roboto Condensed"/>
                  <a:cs typeface="Roboto Condensed"/>
                  <a:sym typeface="Roboto Condensed"/>
                </a:endParaRPr>
              </a:p>
              <a:p>
                <a:pPr indent="-361950" lvl="0" marL="457200" rtl="0" algn="l">
                  <a:spcBef>
                    <a:spcPts val="0"/>
                  </a:spcBef>
                  <a:spcAft>
                    <a:spcPts val="0"/>
                  </a:spcAft>
                  <a:buClr>
                    <a:srgbClr val="FFFFFF"/>
                  </a:buClr>
                  <a:buSzPts val="2100"/>
                  <a:buFont typeface="Roboto Condensed"/>
                  <a:buChar char="●"/>
                </a:pPr>
                <a:r>
                  <a:rPr lang="en" sz="2100">
                    <a:solidFill>
                      <a:srgbClr val="FFFFFF"/>
                    </a:solidFill>
                    <a:latin typeface="Roboto Condensed"/>
                    <a:ea typeface="Roboto Condensed"/>
                    <a:cs typeface="Roboto Condensed"/>
                    <a:sym typeface="Roboto Condensed"/>
                  </a:rPr>
                  <a:t>What led to the end of Reconstruction in the South?</a:t>
                </a:r>
                <a:endParaRPr sz="2100">
                  <a:solidFill>
                    <a:srgbClr val="FFFFFF"/>
                  </a:solidFill>
                  <a:latin typeface="Roboto Condensed"/>
                  <a:ea typeface="Roboto Condensed"/>
                  <a:cs typeface="Roboto Condensed"/>
                  <a:sym typeface="Roboto Condensed"/>
                </a:endParaRPr>
              </a:p>
              <a:p>
                <a:pPr indent="0" lvl="0" marL="0" rtl="0" algn="l">
                  <a:spcBef>
                    <a:spcPts val="0"/>
                  </a:spcBef>
                  <a:spcAft>
                    <a:spcPts val="0"/>
                  </a:spcAft>
                  <a:buNone/>
                </a:pPr>
                <a:r>
                  <a:t/>
                </a:r>
                <a:endParaRPr>
                  <a:solidFill>
                    <a:srgbClr val="FFFFFF"/>
                  </a:solidFill>
                  <a:latin typeface="Ubuntu Light"/>
                  <a:ea typeface="Ubuntu Light"/>
                  <a:cs typeface="Ubuntu Light"/>
                  <a:sym typeface="Ubuntu Light"/>
                </a:endParaRPr>
              </a:p>
              <a:p>
                <a:pPr indent="0" lvl="0" marL="0" rtl="0" algn="l">
                  <a:spcBef>
                    <a:spcPts val="0"/>
                  </a:spcBef>
                  <a:spcAft>
                    <a:spcPts val="0"/>
                  </a:spcAft>
                  <a:buNone/>
                </a:pPr>
                <a:r>
                  <a:t/>
                </a:r>
                <a:endParaRPr>
                  <a:solidFill>
                    <a:srgbClr val="FFFFFF"/>
                  </a:solidFill>
                  <a:latin typeface="Ubuntu Light"/>
                  <a:ea typeface="Ubuntu Light"/>
                  <a:cs typeface="Ubuntu Light"/>
                  <a:sym typeface="Ubuntu Light"/>
                </a:endParaRPr>
              </a:p>
            </p:txBody>
          </p:sp>
        </p:grpSp>
        <p:grpSp>
          <p:nvGrpSpPr>
            <p:cNvPr id="70" name="Google Shape;70;p14"/>
            <p:cNvGrpSpPr/>
            <p:nvPr/>
          </p:nvGrpSpPr>
          <p:grpSpPr>
            <a:xfrm>
              <a:off x="794625" y="1696238"/>
              <a:ext cx="2381400" cy="2452200"/>
              <a:chOff x="6093675" y="1629425"/>
              <a:chExt cx="2381400" cy="2452200"/>
            </a:xfrm>
          </p:grpSpPr>
          <p:sp>
            <p:nvSpPr>
              <p:cNvPr id="71" name="Google Shape;71;p14"/>
              <p:cNvSpPr/>
              <p:nvPr/>
            </p:nvSpPr>
            <p:spPr>
              <a:xfrm>
                <a:off x="6093675" y="1629425"/>
                <a:ext cx="2381400" cy="469200"/>
              </a:xfrm>
              <a:prstGeom prst="parallelogram">
                <a:avLst>
                  <a:gd fmla="val 25000" name="adj"/>
                </a:avLst>
              </a:prstGeom>
              <a:solidFill>
                <a:srgbClr val="BF9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FFFFFF"/>
                    </a:solidFill>
                    <a:latin typeface="Nunito"/>
                    <a:ea typeface="Nunito"/>
                    <a:cs typeface="Nunito"/>
                    <a:sym typeface="Nunito"/>
                  </a:rPr>
                  <a:t>WHAT YOU NEED</a:t>
                </a:r>
                <a:endParaRPr b="1" sz="1500">
                  <a:solidFill>
                    <a:srgbClr val="FFFFFF"/>
                  </a:solidFill>
                  <a:latin typeface="Nunito"/>
                  <a:ea typeface="Nunito"/>
                  <a:cs typeface="Nunito"/>
                  <a:sym typeface="Nunito"/>
                </a:endParaRPr>
              </a:p>
            </p:txBody>
          </p:sp>
          <p:sp>
            <p:nvSpPr>
              <p:cNvPr id="72" name="Google Shape;72;p14"/>
              <p:cNvSpPr txBox="1"/>
              <p:nvPr/>
            </p:nvSpPr>
            <p:spPr>
              <a:xfrm>
                <a:off x="6117350" y="2116325"/>
                <a:ext cx="2230800" cy="19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100">
                  <a:solidFill>
                    <a:srgbClr val="FFFFFF"/>
                  </a:solidFill>
                  <a:latin typeface="Roboto Condensed"/>
                  <a:ea typeface="Roboto Condensed"/>
                  <a:cs typeface="Roboto Condensed"/>
                  <a:sym typeface="Roboto Condensed"/>
                </a:endParaRPr>
              </a:p>
              <a:p>
                <a:pPr indent="0" lvl="0" marL="0" rtl="0" algn="l">
                  <a:spcBef>
                    <a:spcPts val="0"/>
                  </a:spcBef>
                  <a:spcAft>
                    <a:spcPts val="0"/>
                  </a:spcAft>
                  <a:buNone/>
                </a:pPr>
                <a:r>
                  <a:rPr lang="en" sz="2100">
                    <a:solidFill>
                      <a:srgbClr val="FFFFFF"/>
                    </a:solidFill>
                    <a:latin typeface="Roboto Condensed"/>
                    <a:ea typeface="Roboto Condensed"/>
                    <a:cs typeface="Roboto Condensed"/>
                    <a:sym typeface="Roboto Condensed"/>
                  </a:rPr>
                  <a:t>Charged computer, but not out yet.</a:t>
                </a:r>
                <a:endParaRPr sz="2100">
                  <a:solidFill>
                    <a:srgbClr val="FFFFFF"/>
                  </a:solidFill>
                  <a:latin typeface="Roboto Condensed"/>
                  <a:ea typeface="Roboto Condensed"/>
                  <a:cs typeface="Roboto Condensed"/>
                  <a:sym typeface="Roboto Condensed"/>
                </a:endParaRPr>
              </a:p>
              <a:p>
                <a:pPr indent="0" lvl="0" marL="0" rtl="0" algn="l">
                  <a:spcBef>
                    <a:spcPts val="0"/>
                  </a:spcBef>
                  <a:spcAft>
                    <a:spcPts val="0"/>
                  </a:spcAft>
                  <a:buNone/>
                </a:pPr>
                <a:r>
                  <a:t/>
                </a:r>
                <a:endParaRPr sz="2100">
                  <a:solidFill>
                    <a:srgbClr val="FFFFFF"/>
                  </a:solidFill>
                  <a:latin typeface="Roboto Condensed"/>
                  <a:ea typeface="Roboto Condensed"/>
                  <a:cs typeface="Roboto Condensed"/>
                  <a:sym typeface="Roboto Condensed"/>
                </a:endParaRPr>
              </a:p>
              <a:p>
                <a:pPr indent="0" lvl="0" marL="0" rtl="0" algn="l">
                  <a:spcBef>
                    <a:spcPts val="0"/>
                  </a:spcBef>
                  <a:spcAft>
                    <a:spcPts val="0"/>
                  </a:spcAft>
                  <a:buNone/>
                </a:pPr>
                <a:r>
                  <a:rPr lang="en" sz="2100">
                    <a:solidFill>
                      <a:srgbClr val="FFFFFF"/>
                    </a:solidFill>
                    <a:latin typeface="Roboto Condensed"/>
                    <a:ea typeface="Roboto Condensed"/>
                    <a:cs typeface="Roboto Condensed"/>
                    <a:sym typeface="Roboto Condensed"/>
                  </a:rPr>
                  <a:t>Active Mind</a:t>
                </a:r>
                <a:endParaRPr sz="2100">
                  <a:solidFill>
                    <a:srgbClr val="FFFFFF"/>
                  </a:solidFill>
                  <a:latin typeface="Roboto Condensed"/>
                  <a:ea typeface="Roboto Condensed"/>
                  <a:cs typeface="Roboto Condensed"/>
                  <a:sym typeface="Roboto Condensed"/>
                </a:endParaRPr>
              </a:p>
              <a:p>
                <a:pPr indent="0" lvl="0" marL="0" rtl="0" algn="l">
                  <a:spcBef>
                    <a:spcPts val="0"/>
                  </a:spcBef>
                  <a:spcAft>
                    <a:spcPts val="0"/>
                  </a:spcAft>
                  <a:buNone/>
                </a:pPr>
                <a:r>
                  <a:t/>
                </a:r>
                <a:endParaRPr sz="1600">
                  <a:solidFill>
                    <a:srgbClr val="FFFFFF"/>
                  </a:solidFill>
                </a:endParaRPr>
              </a:p>
              <a:p>
                <a:pPr indent="0" lvl="0" marL="0" rtl="0" algn="l">
                  <a:spcBef>
                    <a:spcPts val="0"/>
                  </a:spcBef>
                  <a:spcAft>
                    <a:spcPts val="0"/>
                  </a:spcAft>
                  <a:buNone/>
                </a:pPr>
                <a:r>
                  <a:t/>
                </a:r>
                <a:endParaRPr sz="1600">
                  <a:solidFill>
                    <a:srgbClr val="FFFFFF"/>
                  </a:solidFill>
                </a:endParaRPr>
              </a:p>
            </p:txBody>
          </p:sp>
        </p:grpSp>
        <p:cxnSp>
          <p:nvCxnSpPr>
            <p:cNvPr id="73" name="Google Shape;73;p14"/>
            <p:cNvCxnSpPr/>
            <p:nvPr/>
          </p:nvCxnSpPr>
          <p:spPr>
            <a:xfrm>
              <a:off x="3133925" y="2373075"/>
              <a:ext cx="0" cy="1434300"/>
            </a:xfrm>
            <a:prstGeom prst="straightConnector1">
              <a:avLst/>
            </a:prstGeom>
            <a:noFill/>
            <a:ln cap="flat" cmpd="sng" w="28575">
              <a:solidFill>
                <a:srgbClr val="FFFFFF"/>
              </a:solidFill>
              <a:prstDash val="dot"/>
              <a:round/>
              <a:headEnd len="med" w="med" type="none"/>
              <a:tailEnd len="med" w="med" type="none"/>
            </a:ln>
          </p:spPr>
        </p:cxnSp>
        <p:cxnSp>
          <p:nvCxnSpPr>
            <p:cNvPr id="74" name="Google Shape;74;p14"/>
            <p:cNvCxnSpPr/>
            <p:nvPr/>
          </p:nvCxnSpPr>
          <p:spPr>
            <a:xfrm>
              <a:off x="5809400" y="2373075"/>
              <a:ext cx="0" cy="1434300"/>
            </a:xfrm>
            <a:prstGeom prst="straightConnector1">
              <a:avLst/>
            </a:prstGeom>
            <a:noFill/>
            <a:ln cap="flat" cmpd="sng" w="28575">
              <a:solidFill>
                <a:srgbClr val="FFFFFF"/>
              </a:solidFill>
              <a:prstDash val="dot"/>
              <a:round/>
              <a:headEnd len="med" w="med" type="none"/>
              <a:tailEnd len="med" w="med" type="none"/>
            </a:ln>
          </p:spPr>
        </p:cxnSp>
      </p:grpSp>
      <p:sp>
        <p:nvSpPr>
          <p:cNvPr id="75" name="Google Shape;75;p14"/>
          <p:cNvSpPr/>
          <p:nvPr/>
        </p:nvSpPr>
        <p:spPr>
          <a:xfrm>
            <a:off x="281350" y="271300"/>
            <a:ext cx="6444900" cy="665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300">
                <a:solidFill>
                  <a:srgbClr val="073763"/>
                </a:solidFill>
                <a:latin typeface="Roboto Condensed"/>
                <a:ea typeface="Roboto Condensed"/>
                <a:cs typeface="Roboto Condensed"/>
                <a:sym typeface="Roboto Condensed"/>
              </a:rPr>
              <a:t>MONDAY DEC 11 2023</a:t>
            </a:r>
            <a:endParaRPr b="1" sz="5300">
              <a:solidFill>
                <a:srgbClr val="073763"/>
              </a:solidFill>
              <a:latin typeface="Roboto Condensed"/>
              <a:ea typeface="Roboto Condensed"/>
              <a:cs typeface="Roboto Condensed"/>
              <a:sym typeface="Roboto Condense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5"/>
          <p:cNvPicPr preferRelativeResize="0"/>
          <p:nvPr/>
        </p:nvPicPr>
        <p:blipFill>
          <a:blip r:embed="rId3">
            <a:alphaModFix/>
          </a:blip>
          <a:stretch>
            <a:fillRect/>
          </a:stretch>
        </p:blipFill>
        <p:spPr>
          <a:xfrm>
            <a:off x="0" y="0"/>
            <a:ext cx="9144000" cy="5143500"/>
          </a:xfrm>
          <a:prstGeom prst="rect">
            <a:avLst/>
          </a:prstGeom>
          <a:noFill/>
          <a:ln>
            <a:noFill/>
          </a:ln>
        </p:spPr>
      </p:pic>
      <p:sp>
        <p:nvSpPr>
          <p:cNvPr id="81" name="Google Shape;81;p15"/>
          <p:cNvSpPr/>
          <p:nvPr/>
        </p:nvSpPr>
        <p:spPr>
          <a:xfrm>
            <a:off x="281350" y="271300"/>
            <a:ext cx="8550900" cy="4612200"/>
          </a:xfrm>
          <a:prstGeom prst="rect">
            <a:avLst/>
          </a:prstGeom>
          <a:noFill/>
          <a:ln cap="flat" cmpd="sng" w="76200">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a:off x="281350" y="271300"/>
            <a:ext cx="4881900" cy="4599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CHARLES CALDWELL</a:t>
            </a:r>
            <a:endParaRPr b="1" sz="3400">
              <a:solidFill>
                <a:schemeClr val="lt1"/>
              </a:solidFill>
              <a:latin typeface="Roboto Condensed"/>
              <a:ea typeface="Roboto Condensed"/>
              <a:cs typeface="Roboto Condensed"/>
              <a:sym typeface="Roboto Condensed"/>
            </a:endParaRPr>
          </a:p>
        </p:txBody>
      </p:sp>
      <p:pic>
        <p:nvPicPr>
          <p:cNvPr id="83" name="Google Shape;83;p15"/>
          <p:cNvPicPr preferRelativeResize="0"/>
          <p:nvPr/>
        </p:nvPicPr>
        <p:blipFill>
          <a:blip r:embed="rId4">
            <a:alphaModFix/>
          </a:blip>
          <a:stretch>
            <a:fillRect/>
          </a:stretch>
        </p:blipFill>
        <p:spPr>
          <a:xfrm>
            <a:off x="6145950" y="541275"/>
            <a:ext cx="1920800" cy="2610000"/>
          </a:xfrm>
          <a:prstGeom prst="rect">
            <a:avLst/>
          </a:prstGeom>
          <a:noFill/>
          <a:ln>
            <a:noFill/>
          </a:ln>
        </p:spPr>
      </p:pic>
      <p:sp>
        <p:nvSpPr>
          <p:cNvPr id="84" name="Google Shape;84;p15"/>
          <p:cNvSpPr txBox="1"/>
          <p:nvPr/>
        </p:nvSpPr>
        <p:spPr>
          <a:xfrm>
            <a:off x="425900" y="829575"/>
            <a:ext cx="4881900" cy="3455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2100">
                <a:solidFill>
                  <a:srgbClr val="20124D"/>
                </a:solidFill>
                <a:latin typeface="Roboto Condensed"/>
                <a:ea typeface="Roboto Condensed"/>
                <a:cs typeface="Roboto Condensed"/>
                <a:sym typeface="Roboto Condensed"/>
              </a:rPr>
              <a:t>On Christmas Day 1875, Charles Caldwell, a state senator, was having dinner at the home of a friend. He had recently returned to home to Mississippi after fleeing an angry white mob 2 months earlier. As he was giving a toast, a gunshot exploded through the window and Caldwell collapsed. Men entered the home, dragged out his body, and continued to shoot it for fun. He died alone in the street as the home was destroyed….</a:t>
            </a:r>
            <a:endParaRPr sz="2100">
              <a:solidFill>
                <a:srgbClr val="20124D"/>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800">
              <a:solidFill>
                <a:srgbClr val="FFFFFF"/>
              </a:solidFill>
              <a:latin typeface="Roboto Condensed"/>
              <a:ea typeface="Roboto Condensed"/>
              <a:cs typeface="Roboto Condensed"/>
              <a:sym typeface="Roboto Condensed"/>
            </a:endParaRPr>
          </a:p>
        </p:txBody>
      </p:sp>
      <p:pic>
        <p:nvPicPr>
          <p:cNvPr id="85" name="Google Shape;85;p15"/>
          <p:cNvPicPr preferRelativeResize="0"/>
          <p:nvPr/>
        </p:nvPicPr>
        <p:blipFill>
          <a:blip r:embed="rId5">
            <a:alphaModFix/>
          </a:blip>
          <a:stretch>
            <a:fillRect/>
          </a:stretch>
        </p:blipFill>
        <p:spPr>
          <a:xfrm>
            <a:off x="5739288" y="2876875"/>
            <a:ext cx="2734125" cy="1822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6"/>
          <p:cNvPicPr preferRelativeResize="0"/>
          <p:nvPr/>
        </p:nvPicPr>
        <p:blipFill>
          <a:blip r:embed="rId3">
            <a:alphaModFix/>
          </a:blip>
          <a:stretch>
            <a:fillRect/>
          </a:stretch>
        </p:blipFill>
        <p:spPr>
          <a:xfrm>
            <a:off x="0" y="0"/>
            <a:ext cx="9144000" cy="5143500"/>
          </a:xfrm>
          <a:prstGeom prst="rect">
            <a:avLst/>
          </a:prstGeom>
          <a:noFill/>
          <a:ln>
            <a:noFill/>
          </a:ln>
        </p:spPr>
      </p:pic>
      <p:sp>
        <p:nvSpPr>
          <p:cNvPr id="91" name="Google Shape;91;p16"/>
          <p:cNvSpPr/>
          <p:nvPr/>
        </p:nvSpPr>
        <p:spPr>
          <a:xfrm>
            <a:off x="281350" y="271300"/>
            <a:ext cx="8550900" cy="4612200"/>
          </a:xfrm>
          <a:prstGeom prst="rect">
            <a:avLst/>
          </a:prstGeom>
          <a:noFill/>
          <a:ln cap="flat" cmpd="sng" w="76200">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a:off x="281350" y="271300"/>
            <a:ext cx="4881900" cy="4599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ELECTION OF 1868</a:t>
            </a:r>
            <a:endParaRPr b="1" sz="3400">
              <a:solidFill>
                <a:schemeClr val="lt1"/>
              </a:solidFill>
              <a:latin typeface="Roboto Condensed"/>
              <a:ea typeface="Roboto Condensed"/>
              <a:cs typeface="Roboto Condensed"/>
              <a:sym typeface="Roboto Condensed"/>
            </a:endParaRPr>
          </a:p>
        </p:txBody>
      </p:sp>
      <p:sp>
        <p:nvSpPr>
          <p:cNvPr id="93" name="Google Shape;93;p16"/>
          <p:cNvSpPr txBox="1"/>
          <p:nvPr/>
        </p:nvSpPr>
        <p:spPr>
          <a:xfrm>
            <a:off x="425900" y="731200"/>
            <a:ext cx="4737300" cy="35538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US Grant, a republican, was elected as President but only by a small margin in the south</a:t>
            </a:r>
            <a:endParaRPr sz="2000">
              <a:solidFill>
                <a:srgbClr val="20124D"/>
              </a:solidFill>
              <a:latin typeface="Roboto Condensed"/>
              <a:ea typeface="Roboto Condensed"/>
              <a:cs typeface="Roboto Condensed"/>
              <a:sym typeface="Roboto Condensed"/>
            </a:endParaRPr>
          </a:p>
          <a:p>
            <a:pPr indent="-355600" lvl="0" marL="4572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It was clear that many African-Americans were being </a:t>
            </a:r>
            <a:r>
              <a:rPr b="1" lang="en" sz="2000" u="sng">
                <a:solidFill>
                  <a:srgbClr val="20124D"/>
                </a:solidFill>
                <a:latin typeface="Roboto Condensed"/>
                <a:ea typeface="Roboto Condensed"/>
                <a:cs typeface="Roboto Condensed"/>
                <a:sym typeface="Roboto Condensed"/>
              </a:rPr>
              <a:t>disenfranchised</a:t>
            </a:r>
            <a:r>
              <a:rPr lang="en" sz="2000">
                <a:solidFill>
                  <a:srgbClr val="20124D"/>
                </a:solidFill>
                <a:latin typeface="Roboto Condensed"/>
                <a:ea typeface="Roboto Condensed"/>
                <a:cs typeface="Roboto Condensed"/>
                <a:sym typeface="Roboto Condensed"/>
              </a:rPr>
              <a:t>, or denied the right to vote → often through intimidation, literacy tests, and taxes</a:t>
            </a:r>
            <a:endParaRPr sz="2000">
              <a:solidFill>
                <a:srgbClr val="20124D"/>
              </a:solidFill>
              <a:latin typeface="Roboto Condensed"/>
              <a:ea typeface="Roboto Condensed"/>
              <a:cs typeface="Roboto Condensed"/>
              <a:sym typeface="Roboto Condensed"/>
            </a:endParaRPr>
          </a:p>
          <a:p>
            <a:pPr indent="-355600" lvl="0" marL="4572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1870- Congress passed the </a:t>
            </a:r>
            <a:r>
              <a:rPr b="1" lang="en" sz="2000">
                <a:solidFill>
                  <a:srgbClr val="20124D"/>
                </a:solidFill>
                <a:latin typeface="Roboto Condensed"/>
                <a:ea typeface="Roboto Condensed"/>
                <a:cs typeface="Roboto Condensed"/>
                <a:sym typeface="Roboto Condensed"/>
              </a:rPr>
              <a:t>15th Amendment</a:t>
            </a:r>
            <a:r>
              <a:rPr lang="en" sz="2000">
                <a:solidFill>
                  <a:srgbClr val="20124D"/>
                </a:solidFill>
                <a:latin typeface="Roboto Condensed"/>
                <a:ea typeface="Roboto Condensed"/>
                <a:cs typeface="Roboto Condensed"/>
                <a:sym typeface="Roboto Condensed"/>
              </a:rPr>
              <a:t> to </a:t>
            </a:r>
            <a:r>
              <a:rPr lang="en" sz="2000">
                <a:solidFill>
                  <a:srgbClr val="20124D"/>
                </a:solidFill>
                <a:latin typeface="Roboto Condensed"/>
                <a:ea typeface="Roboto Condensed"/>
                <a:cs typeface="Roboto Condensed"/>
                <a:sym typeface="Roboto Condensed"/>
              </a:rPr>
              <a:t>guarantee</a:t>
            </a:r>
            <a:r>
              <a:rPr lang="en" sz="2000">
                <a:solidFill>
                  <a:srgbClr val="20124D"/>
                </a:solidFill>
                <a:latin typeface="Roboto Condensed"/>
                <a:ea typeface="Roboto Condensed"/>
                <a:cs typeface="Roboto Condensed"/>
                <a:sym typeface="Roboto Condensed"/>
              </a:rPr>
              <a:t> right to vote, but loopholes still remained</a:t>
            </a:r>
            <a:endParaRPr sz="2000">
              <a:solidFill>
                <a:srgbClr val="20124D"/>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800">
              <a:solidFill>
                <a:srgbClr val="FFFFFF"/>
              </a:solidFill>
              <a:latin typeface="Roboto Condensed"/>
              <a:ea typeface="Roboto Condensed"/>
              <a:cs typeface="Roboto Condensed"/>
              <a:sym typeface="Roboto Condensed"/>
            </a:endParaRPr>
          </a:p>
        </p:txBody>
      </p:sp>
      <p:pic>
        <p:nvPicPr>
          <p:cNvPr id="94" name="Google Shape;94;p16"/>
          <p:cNvPicPr preferRelativeResize="0"/>
          <p:nvPr/>
        </p:nvPicPr>
        <p:blipFill>
          <a:blip r:embed="rId4">
            <a:alphaModFix/>
          </a:blip>
          <a:stretch>
            <a:fillRect/>
          </a:stretch>
        </p:blipFill>
        <p:spPr>
          <a:xfrm>
            <a:off x="5985725" y="319700"/>
            <a:ext cx="2322501" cy="2322501"/>
          </a:xfrm>
          <a:prstGeom prst="rect">
            <a:avLst/>
          </a:prstGeom>
          <a:noFill/>
          <a:ln>
            <a:noFill/>
          </a:ln>
        </p:spPr>
      </p:pic>
      <p:pic>
        <p:nvPicPr>
          <p:cNvPr id="95" name="Google Shape;95;p16"/>
          <p:cNvPicPr preferRelativeResize="0"/>
          <p:nvPr/>
        </p:nvPicPr>
        <p:blipFill>
          <a:blip r:embed="rId5">
            <a:alphaModFix/>
          </a:blip>
          <a:stretch>
            <a:fillRect/>
          </a:stretch>
        </p:blipFill>
        <p:spPr>
          <a:xfrm>
            <a:off x="5163255" y="2349678"/>
            <a:ext cx="3366225" cy="235822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7"/>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1" name="Google Shape;101;p17"/>
          <p:cNvSpPr/>
          <p:nvPr/>
        </p:nvSpPr>
        <p:spPr>
          <a:xfrm>
            <a:off x="281350" y="271300"/>
            <a:ext cx="8550900" cy="4612200"/>
          </a:xfrm>
          <a:prstGeom prst="rect">
            <a:avLst/>
          </a:prstGeom>
          <a:noFill/>
          <a:ln cap="flat" cmpd="sng" w="76200">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7"/>
          <p:cNvSpPr/>
          <p:nvPr/>
        </p:nvSpPr>
        <p:spPr>
          <a:xfrm>
            <a:off x="281350" y="271300"/>
            <a:ext cx="4881900" cy="4599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GRANT’S PRESIDENCY</a:t>
            </a:r>
            <a:endParaRPr b="1" sz="3400">
              <a:solidFill>
                <a:schemeClr val="lt1"/>
              </a:solidFill>
              <a:latin typeface="Roboto Condensed"/>
              <a:ea typeface="Roboto Condensed"/>
              <a:cs typeface="Roboto Condensed"/>
              <a:sym typeface="Roboto Condensed"/>
            </a:endParaRPr>
          </a:p>
        </p:txBody>
      </p:sp>
      <p:sp>
        <p:nvSpPr>
          <p:cNvPr id="103" name="Google Shape;103;p17"/>
          <p:cNvSpPr txBox="1"/>
          <p:nvPr/>
        </p:nvSpPr>
        <p:spPr>
          <a:xfrm>
            <a:off x="425900" y="731200"/>
            <a:ext cx="4737300" cy="35538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rgbClr val="20124D"/>
              </a:buClr>
              <a:buSzPts val="2000"/>
              <a:buFont typeface="Roboto Condensed"/>
              <a:buChar char="■"/>
            </a:pPr>
            <a:r>
              <a:rPr b="1" lang="en" sz="2000">
                <a:solidFill>
                  <a:srgbClr val="20124D"/>
                </a:solidFill>
                <a:latin typeface="Roboto Condensed"/>
                <a:ea typeface="Roboto Condensed"/>
                <a:cs typeface="Roboto Condensed"/>
                <a:sym typeface="Roboto Condensed"/>
              </a:rPr>
              <a:t>Corruption and scandal</a:t>
            </a:r>
            <a:r>
              <a:rPr lang="en" sz="2000">
                <a:solidFill>
                  <a:srgbClr val="20124D"/>
                </a:solidFill>
                <a:latin typeface="Roboto Condensed"/>
                <a:ea typeface="Roboto Condensed"/>
                <a:cs typeface="Roboto Condensed"/>
                <a:sym typeface="Roboto Condensed"/>
              </a:rPr>
              <a:t> was common in the Grant administration</a:t>
            </a:r>
            <a:endParaRPr sz="2000">
              <a:solidFill>
                <a:srgbClr val="20124D"/>
              </a:solidFill>
              <a:latin typeface="Roboto Condensed"/>
              <a:ea typeface="Roboto Condensed"/>
              <a:cs typeface="Roboto Condensed"/>
              <a:sym typeface="Roboto Condensed"/>
            </a:endParaRPr>
          </a:p>
          <a:p>
            <a:pPr indent="-355600" lvl="1" marL="9144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Grant himself was not involved, but he failed to remove those who were</a:t>
            </a:r>
            <a:endParaRPr sz="2000">
              <a:solidFill>
                <a:srgbClr val="20124D"/>
              </a:solidFill>
              <a:latin typeface="Roboto Condensed"/>
              <a:ea typeface="Roboto Condensed"/>
              <a:cs typeface="Roboto Condensed"/>
              <a:sym typeface="Roboto Condensed"/>
            </a:endParaRPr>
          </a:p>
          <a:p>
            <a:pPr indent="-355600" lvl="0" marL="457200" rtl="0" algn="l">
              <a:lnSpc>
                <a:spcPct val="115000"/>
              </a:lnSpc>
              <a:spcBef>
                <a:spcPts val="0"/>
              </a:spcBef>
              <a:spcAft>
                <a:spcPts val="0"/>
              </a:spcAft>
              <a:buClr>
                <a:srgbClr val="20124D"/>
              </a:buClr>
              <a:buSzPts val="2000"/>
              <a:buFont typeface="Roboto Condensed"/>
              <a:buChar char="■"/>
            </a:pPr>
            <a:r>
              <a:rPr b="1" lang="en" sz="2000" u="sng">
                <a:solidFill>
                  <a:srgbClr val="20124D"/>
                </a:solidFill>
                <a:latin typeface="Roboto Condensed"/>
                <a:ea typeface="Roboto Condensed"/>
                <a:cs typeface="Roboto Condensed"/>
                <a:sym typeface="Roboto Condensed"/>
              </a:rPr>
              <a:t>Whiskey Ring Scandal</a:t>
            </a:r>
            <a:r>
              <a:rPr lang="en" sz="2000">
                <a:solidFill>
                  <a:srgbClr val="20124D"/>
                </a:solidFill>
                <a:latin typeface="Roboto Condensed"/>
                <a:ea typeface="Roboto Condensed"/>
                <a:cs typeface="Roboto Condensed"/>
                <a:sym typeface="Roboto Condensed"/>
              </a:rPr>
              <a:t>= tax officials allowed whiskey distillers to get away with not paying taxes in return for kickback payments</a:t>
            </a:r>
            <a:endParaRPr sz="2000">
              <a:solidFill>
                <a:srgbClr val="20124D"/>
              </a:solidFill>
              <a:latin typeface="Roboto Condensed"/>
              <a:ea typeface="Roboto Condensed"/>
              <a:cs typeface="Roboto Condensed"/>
              <a:sym typeface="Roboto Condensed"/>
            </a:endParaRPr>
          </a:p>
          <a:p>
            <a:pPr indent="-355600" lvl="0" marL="4572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Reformers lose interest in black rights and move on to cleaning up government corruption. </a:t>
            </a:r>
            <a:endParaRPr sz="2000">
              <a:solidFill>
                <a:srgbClr val="20124D"/>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800">
              <a:solidFill>
                <a:srgbClr val="FFFFFF"/>
              </a:solidFill>
              <a:latin typeface="Roboto Condensed"/>
              <a:ea typeface="Roboto Condensed"/>
              <a:cs typeface="Roboto Condensed"/>
              <a:sym typeface="Roboto Condensed"/>
            </a:endParaRPr>
          </a:p>
        </p:txBody>
      </p:sp>
      <p:pic>
        <p:nvPicPr>
          <p:cNvPr id="104" name="Google Shape;104;p17"/>
          <p:cNvPicPr preferRelativeResize="0"/>
          <p:nvPr/>
        </p:nvPicPr>
        <p:blipFill>
          <a:blip r:embed="rId4">
            <a:alphaModFix/>
          </a:blip>
          <a:stretch>
            <a:fillRect/>
          </a:stretch>
        </p:blipFill>
        <p:spPr>
          <a:xfrm>
            <a:off x="5489350" y="573238"/>
            <a:ext cx="3085888" cy="3869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8"/>
          <p:cNvPicPr preferRelativeResize="0"/>
          <p:nvPr/>
        </p:nvPicPr>
        <p:blipFill>
          <a:blip r:embed="rId3">
            <a:alphaModFix/>
          </a:blip>
          <a:stretch>
            <a:fillRect/>
          </a:stretch>
        </p:blipFill>
        <p:spPr>
          <a:xfrm>
            <a:off x="0" y="0"/>
            <a:ext cx="9144000" cy="5143500"/>
          </a:xfrm>
          <a:prstGeom prst="rect">
            <a:avLst/>
          </a:prstGeom>
          <a:noFill/>
          <a:ln>
            <a:noFill/>
          </a:ln>
        </p:spPr>
      </p:pic>
      <p:sp>
        <p:nvSpPr>
          <p:cNvPr id="110" name="Google Shape;110;p18"/>
          <p:cNvSpPr/>
          <p:nvPr/>
        </p:nvSpPr>
        <p:spPr>
          <a:xfrm>
            <a:off x="281350" y="271300"/>
            <a:ext cx="8550900" cy="4612200"/>
          </a:xfrm>
          <a:prstGeom prst="rect">
            <a:avLst/>
          </a:prstGeom>
          <a:noFill/>
          <a:ln cap="flat" cmpd="sng" w="76200">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8"/>
          <p:cNvSpPr/>
          <p:nvPr/>
        </p:nvSpPr>
        <p:spPr>
          <a:xfrm>
            <a:off x="281350" y="271300"/>
            <a:ext cx="5222400" cy="4599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100">
                <a:solidFill>
                  <a:schemeClr val="lt1"/>
                </a:solidFill>
                <a:latin typeface="Roboto Condensed"/>
                <a:ea typeface="Roboto Condensed"/>
                <a:cs typeface="Roboto Condensed"/>
                <a:sym typeface="Roboto Condensed"/>
              </a:rPr>
              <a:t>NORTHERN DISILLUSIONMENT</a:t>
            </a:r>
            <a:endParaRPr b="1" sz="3100">
              <a:solidFill>
                <a:schemeClr val="lt1"/>
              </a:solidFill>
              <a:latin typeface="Roboto Condensed"/>
              <a:ea typeface="Roboto Condensed"/>
              <a:cs typeface="Roboto Condensed"/>
              <a:sym typeface="Roboto Condensed"/>
            </a:endParaRPr>
          </a:p>
        </p:txBody>
      </p:sp>
      <p:sp>
        <p:nvSpPr>
          <p:cNvPr id="112" name="Google Shape;112;p18"/>
          <p:cNvSpPr txBox="1"/>
          <p:nvPr/>
        </p:nvSpPr>
        <p:spPr>
          <a:xfrm>
            <a:off x="425900" y="731200"/>
            <a:ext cx="4829100" cy="35538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rgbClr val="20124D"/>
              </a:buClr>
              <a:buSzPts val="2000"/>
              <a:buFont typeface="Roboto Condensed"/>
              <a:buChar char="■"/>
            </a:pPr>
            <a:r>
              <a:rPr b="1" lang="en" sz="2000" u="sng">
                <a:solidFill>
                  <a:srgbClr val="20124D"/>
                </a:solidFill>
                <a:latin typeface="Roboto Condensed"/>
                <a:ea typeface="Roboto Condensed"/>
                <a:cs typeface="Roboto Condensed"/>
                <a:sym typeface="Roboto Condensed"/>
              </a:rPr>
              <a:t>Civil Rights Act of 1875</a:t>
            </a:r>
            <a:r>
              <a:rPr lang="en" sz="2000">
                <a:solidFill>
                  <a:srgbClr val="20124D"/>
                </a:solidFill>
                <a:latin typeface="Roboto Condensed"/>
                <a:ea typeface="Roboto Condensed"/>
                <a:cs typeface="Roboto Condensed"/>
                <a:sym typeface="Roboto Condensed"/>
              </a:rPr>
              <a:t>= bans segregation in most public places except schools → no one actually enforces it</a:t>
            </a:r>
            <a:endParaRPr sz="2000">
              <a:solidFill>
                <a:srgbClr val="20124D"/>
              </a:solidFill>
              <a:latin typeface="Roboto Condensed"/>
              <a:ea typeface="Roboto Condensed"/>
              <a:cs typeface="Roboto Condensed"/>
              <a:sym typeface="Roboto Condensed"/>
            </a:endParaRPr>
          </a:p>
          <a:p>
            <a:pPr indent="-355600" lvl="0" marL="4572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Northern whites began to see reconstruction as a “</a:t>
            </a:r>
            <a:r>
              <a:rPr b="1" lang="en" sz="2000">
                <a:solidFill>
                  <a:srgbClr val="20124D"/>
                </a:solidFill>
                <a:latin typeface="Roboto Condensed"/>
                <a:ea typeface="Roboto Condensed"/>
                <a:cs typeface="Roboto Condensed"/>
                <a:sym typeface="Roboto Condensed"/>
              </a:rPr>
              <a:t>chore</a:t>
            </a:r>
            <a:r>
              <a:rPr lang="en" sz="2000">
                <a:solidFill>
                  <a:srgbClr val="20124D"/>
                </a:solidFill>
                <a:latin typeface="Roboto Condensed"/>
                <a:ea typeface="Roboto Condensed"/>
                <a:cs typeface="Roboto Condensed"/>
                <a:sym typeface="Roboto Condensed"/>
              </a:rPr>
              <a:t>” and too much trouble</a:t>
            </a:r>
            <a:endParaRPr sz="2000">
              <a:solidFill>
                <a:srgbClr val="20124D"/>
              </a:solidFill>
              <a:latin typeface="Roboto Condensed"/>
              <a:ea typeface="Roboto Condensed"/>
              <a:cs typeface="Roboto Condensed"/>
              <a:sym typeface="Roboto Condensed"/>
            </a:endParaRPr>
          </a:p>
          <a:p>
            <a:pPr indent="-355600" lvl="1" marL="9144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Elections were growing violent </a:t>
            </a:r>
            <a:endParaRPr sz="2000">
              <a:solidFill>
                <a:srgbClr val="20124D"/>
              </a:solidFill>
              <a:latin typeface="Roboto Condensed"/>
              <a:ea typeface="Roboto Condensed"/>
              <a:cs typeface="Roboto Condensed"/>
              <a:sym typeface="Roboto Condensed"/>
            </a:endParaRPr>
          </a:p>
          <a:p>
            <a:pPr indent="-355600" lvl="0" marL="457200" rtl="0" algn="l">
              <a:lnSpc>
                <a:spcPct val="115000"/>
              </a:lnSpc>
              <a:spcBef>
                <a:spcPts val="0"/>
              </a:spcBef>
              <a:spcAft>
                <a:spcPts val="0"/>
              </a:spcAft>
              <a:buClr>
                <a:srgbClr val="20124D"/>
              </a:buClr>
              <a:buSzPts val="2000"/>
              <a:buFont typeface="Roboto Condensed"/>
              <a:buChar char="■"/>
            </a:pPr>
            <a:r>
              <a:rPr b="1" lang="en" sz="2000">
                <a:solidFill>
                  <a:srgbClr val="20124D"/>
                </a:solidFill>
                <a:latin typeface="Roboto Condensed"/>
                <a:ea typeface="Roboto Condensed"/>
                <a:cs typeface="Roboto Condensed"/>
                <a:sym typeface="Roboto Condensed"/>
              </a:rPr>
              <a:t>Panic of 1873</a:t>
            </a:r>
            <a:r>
              <a:rPr lang="en" sz="2000">
                <a:solidFill>
                  <a:srgbClr val="20124D"/>
                </a:solidFill>
                <a:latin typeface="Roboto Condensed"/>
                <a:ea typeface="Roboto Condensed"/>
                <a:cs typeface="Roboto Condensed"/>
                <a:sym typeface="Roboto Condensed"/>
              </a:rPr>
              <a:t> leads Radical Republicans to lose seats in Congress</a:t>
            </a:r>
            <a:endParaRPr sz="2000">
              <a:solidFill>
                <a:srgbClr val="20124D"/>
              </a:solidFill>
              <a:latin typeface="Roboto Condensed"/>
              <a:ea typeface="Roboto Condensed"/>
              <a:cs typeface="Roboto Condensed"/>
              <a:sym typeface="Roboto Condensed"/>
            </a:endParaRPr>
          </a:p>
          <a:p>
            <a:pPr indent="-355600" lvl="1" marL="9144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Becomes politically unpopular to support Reconstruction</a:t>
            </a:r>
            <a:endParaRPr sz="2000">
              <a:solidFill>
                <a:srgbClr val="20124D"/>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800">
              <a:solidFill>
                <a:srgbClr val="FFFFFF"/>
              </a:solidFill>
              <a:latin typeface="Roboto Condensed"/>
              <a:ea typeface="Roboto Condensed"/>
              <a:cs typeface="Roboto Condensed"/>
              <a:sym typeface="Roboto Condensed"/>
            </a:endParaRPr>
          </a:p>
        </p:txBody>
      </p:sp>
      <p:pic>
        <p:nvPicPr>
          <p:cNvPr id="113" name="Google Shape;113;p18"/>
          <p:cNvPicPr preferRelativeResize="0"/>
          <p:nvPr/>
        </p:nvPicPr>
        <p:blipFill>
          <a:blip r:embed="rId4">
            <a:alphaModFix/>
          </a:blip>
          <a:stretch>
            <a:fillRect/>
          </a:stretch>
        </p:blipFill>
        <p:spPr>
          <a:xfrm>
            <a:off x="5633625" y="482300"/>
            <a:ext cx="3002225" cy="1442475"/>
          </a:xfrm>
          <a:prstGeom prst="rect">
            <a:avLst/>
          </a:prstGeom>
          <a:noFill/>
          <a:ln>
            <a:noFill/>
          </a:ln>
        </p:spPr>
      </p:pic>
      <p:pic>
        <p:nvPicPr>
          <p:cNvPr id="114" name="Google Shape;114;p18"/>
          <p:cNvPicPr preferRelativeResize="0"/>
          <p:nvPr/>
        </p:nvPicPr>
        <p:blipFill>
          <a:blip r:embed="rId5">
            <a:alphaModFix/>
          </a:blip>
          <a:stretch>
            <a:fillRect/>
          </a:stretch>
        </p:blipFill>
        <p:spPr>
          <a:xfrm>
            <a:off x="5942800" y="2091975"/>
            <a:ext cx="2582300" cy="2582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19"/>
          <p:cNvPicPr preferRelativeResize="0"/>
          <p:nvPr/>
        </p:nvPicPr>
        <p:blipFill>
          <a:blip r:embed="rId3">
            <a:alphaModFix/>
          </a:blip>
          <a:stretch>
            <a:fillRect/>
          </a:stretch>
        </p:blipFill>
        <p:spPr>
          <a:xfrm>
            <a:off x="0" y="0"/>
            <a:ext cx="9144000" cy="5143500"/>
          </a:xfrm>
          <a:prstGeom prst="rect">
            <a:avLst/>
          </a:prstGeom>
          <a:noFill/>
          <a:ln>
            <a:noFill/>
          </a:ln>
        </p:spPr>
      </p:pic>
      <p:sp>
        <p:nvSpPr>
          <p:cNvPr id="120" name="Google Shape;120;p19"/>
          <p:cNvSpPr/>
          <p:nvPr/>
        </p:nvSpPr>
        <p:spPr>
          <a:xfrm>
            <a:off x="281350" y="271300"/>
            <a:ext cx="8550900" cy="4612200"/>
          </a:xfrm>
          <a:prstGeom prst="rect">
            <a:avLst/>
          </a:prstGeom>
          <a:noFill/>
          <a:ln cap="flat" cmpd="sng" w="76200">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9"/>
          <p:cNvSpPr/>
          <p:nvPr/>
        </p:nvSpPr>
        <p:spPr>
          <a:xfrm>
            <a:off x="281350" y="271300"/>
            <a:ext cx="5641800" cy="4599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WHITE SUPREMACY</a:t>
            </a:r>
            <a:endParaRPr b="1" sz="3400">
              <a:solidFill>
                <a:schemeClr val="lt1"/>
              </a:solidFill>
              <a:latin typeface="Roboto Condensed"/>
              <a:ea typeface="Roboto Condensed"/>
              <a:cs typeface="Roboto Condensed"/>
              <a:sym typeface="Roboto Condensed"/>
            </a:endParaRPr>
          </a:p>
        </p:txBody>
      </p:sp>
      <p:sp>
        <p:nvSpPr>
          <p:cNvPr id="122" name="Google Shape;122;p19"/>
          <p:cNvSpPr txBox="1"/>
          <p:nvPr/>
        </p:nvSpPr>
        <p:spPr>
          <a:xfrm>
            <a:off x="425900" y="731200"/>
            <a:ext cx="4829100" cy="35538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Clr>
                <a:srgbClr val="20124D"/>
              </a:buClr>
              <a:buSzPts val="2200"/>
              <a:buFont typeface="Roboto Condensed"/>
              <a:buChar char="■"/>
            </a:pPr>
            <a:r>
              <a:rPr lang="en" sz="2200">
                <a:solidFill>
                  <a:srgbClr val="20124D"/>
                </a:solidFill>
                <a:latin typeface="Roboto Condensed"/>
                <a:ea typeface="Roboto Condensed"/>
                <a:cs typeface="Roboto Condensed"/>
                <a:sym typeface="Roboto Condensed"/>
              </a:rPr>
              <a:t>By 1875, public outrage by southerners over African-Americans voting had grown</a:t>
            </a:r>
            <a:endParaRPr sz="2200">
              <a:solidFill>
                <a:srgbClr val="20124D"/>
              </a:solidFill>
              <a:latin typeface="Roboto Condensed"/>
              <a:ea typeface="Roboto Condensed"/>
              <a:cs typeface="Roboto Condensed"/>
              <a:sym typeface="Roboto Condensed"/>
            </a:endParaRPr>
          </a:p>
          <a:p>
            <a:pPr indent="-368300" lvl="1" marL="914400" rtl="0" algn="l">
              <a:lnSpc>
                <a:spcPct val="115000"/>
              </a:lnSpc>
              <a:spcBef>
                <a:spcPts val="0"/>
              </a:spcBef>
              <a:spcAft>
                <a:spcPts val="0"/>
              </a:spcAft>
              <a:buClr>
                <a:srgbClr val="20124D"/>
              </a:buClr>
              <a:buSzPts val="2200"/>
              <a:buFont typeface="Roboto Condensed"/>
              <a:buChar char="○"/>
            </a:pPr>
            <a:r>
              <a:rPr lang="en" sz="2200">
                <a:solidFill>
                  <a:srgbClr val="20124D"/>
                </a:solidFill>
                <a:latin typeface="Roboto Condensed"/>
                <a:ea typeface="Roboto Condensed"/>
                <a:cs typeface="Roboto Condensed"/>
                <a:sym typeface="Roboto Condensed"/>
              </a:rPr>
              <a:t>Some papers even published names of black voters in order to intimidate</a:t>
            </a:r>
            <a:endParaRPr sz="2200">
              <a:solidFill>
                <a:srgbClr val="20124D"/>
              </a:solidFill>
              <a:latin typeface="Roboto Condensed"/>
              <a:ea typeface="Roboto Condensed"/>
              <a:cs typeface="Roboto Condensed"/>
              <a:sym typeface="Roboto Condensed"/>
            </a:endParaRPr>
          </a:p>
          <a:p>
            <a:pPr indent="-368300" lvl="0" marL="457200" rtl="0" algn="l">
              <a:lnSpc>
                <a:spcPct val="115000"/>
              </a:lnSpc>
              <a:spcBef>
                <a:spcPts val="0"/>
              </a:spcBef>
              <a:spcAft>
                <a:spcPts val="0"/>
              </a:spcAft>
              <a:buClr>
                <a:srgbClr val="20124D"/>
              </a:buClr>
              <a:buSzPts val="2200"/>
              <a:buFont typeface="Roboto Condensed"/>
              <a:buChar char="■"/>
            </a:pPr>
            <a:r>
              <a:rPr lang="en" sz="2200">
                <a:solidFill>
                  <a:srgbClr val="20124D"/>
                </a:solidFill>
                <a:latin typeface="Roboto Condensed"/>
                <a:ea typeface="Roboto Condensed"/>
                <a:cs typeface="Roboto Condensed"/>
                <a:sym typeface="Roboto Condensed"/>
              </a:rPr>
              <a:t>Domestic Terror groups began routinely disrupting elections and </a:t>
            </a:r>
            <a:r>
              <a:rPr lang="en" sz="2200">
                <a:solidFill>
                  <a:srgbClr val="20124D"/>
                </a:solidFill>
                <a:latin typeface="Roboto Condensed"/>
                <a:ea typeface="Roboto Condensed"/>
                <a:cs typeface="Roboto Condensed"/>
                <a:sym typeface="Roboto Condensed"/>
              </a:rPr>
              <a:t>assassinating</a:t>
            </a:r>
            <a:r>
              <a:rPr lang="en" sz="2200">
                <a:solidFill>
                  <a:srgbClr val="20124D"/>
                </a:solidFill>
                <a:latin typeface="Roboto Condensed"/>
                <a:ea typeface="Roboto Condensed"/>
                <a:cs typeface="Roboto Condensed"/>
                <a:sym typeface="Roboto Condensed"/>
              </a:rPr>
              <a:t> black officials like Charles Caldwell</a:t>
            </a:r>
            <a:endParaRPr sz="2200">
              <a:solidFill>
                <a:srgbClr val="20124D"/>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800">
              <a:solidFill>
                <a:srgbClr val="FFFFFF"/>
              </a:solidFill>
              <a:latin typeface="Roboto Condensed"/>
              <a:ea typeface="Roboto Condensed"/>
              <a:cs typeface="Roboto Condensed"/>
              <a:sym typeface="Roboto Condensed"/>
            </a:endParaRPr>
          </a:p>
        </p:txBody>
      </p:sp>
      <p:pic>
        <p:nvPicPr>
          <p:cNvPr id="123" name="Google Shape;123;p19"/>
          <p:cNvPicPr preferRelativeResize="0"/>
          <p:nvPr/>
        </p:nvPicPr>
        <p:blipFill>
          <a:blip r:embed="rId4">
            <a:alphaModFix/>
          </a:blip>
          <a:stretch>
            <a:fillRect/>
          </a:stretch>
        </p:blipFill>
        <p:spPr>
          <a:xfrm>
            <a:off x="5483944" y="2266550"/>
            <a:ext cx="3178100" cy="2463650"/>
          </a:xfrm>
          <a:prstGeom prst="rect">
            <a:avLst/>
          </a:prstGeom>
          <a:noFill/>
          <a:ln>
            <a:noFill/>
          </a:ln>
        </p:spPr>
      </p:pic>
      <p:pic>
        <p:nvPicPr>
          <p:cNvPr id="124" name="Google Shape;124;p19"/>
          <p:cNvPicPr preferRelativeResize="0"/>
          <p:nvPr/>
        </p:nvPicPr>
        <p:blipFill>
          <a:blip r:embed="rId5">
            <a:alphaModFix/>
          </a:blip>
          <a:stretch>
            <a:fillRect/>
          </a:stretch>
        </p:blipFill>
        <p:spPr>
          <a:xfrm>
            <a:off x="5876075" y="336200"/>
            <a:ext cx="2785975" cy="18573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0"/>
          <p:cNvPicPr preferRelativeResize="0"/>
          <p:nvPr/>
        </p:nvPicPr>
        <p:blipFill>
          <a:blip r:embed="rId3">
            <a:alphaModFix/>
          </a:blip>
          <a:stretch>
            <a:fillRect/>
          </a:stretch>
        </p:blipFill>
        <p:spPr>
          <a:xfrm>
            <a:off x="0" y="0"/>
            <a:ext cx="9144000" cy="5143500"/>
          </a:xfrm>
          <a:prstGeom prst="rect">
            <a:avLst/>
          </a:prstGeom>
          <a:noFill/>
          <a:ln>
            <a:noFill/>
          </a:ln>
        </p:spPr>
      </p:pic>
      <p:sp>
        <p:nvSpPr>
          <p:cNvPr id="130" name="Google Shape;130;p20"/>
          <p:cNvSpPr/>
          <p:nvPr/>
        </p:nvSpPr>
        <p:spPr>
          <a:xfrm>
            <a:off x="281350" y="271300"/>
            <a:ext cx="8550900" cy="4612200"/>
          </a:xfrm>
          <a:prstGeom prst="rect">
            <a:avLst/>
          </a:prstGeom>
          <a:noFill/>
          <a:ln cap="flat" cmpd="sng" w="76200">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0"/>
          <p:cNvSpPr/>
          <p:nvPr/>
        </p:nvSpPr>
        <p:spPr>
          <a:xfrm>
            <a:off x="281350" y="271300"/>
            <a:ext cx="4894800" cy="4599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THE KU KLUX KLAN</a:t>
            </a:r>
            <a:endParaRPr b="1" sz="3400">
              <a:solidFill>
                <a:schemeClr val="lt1"/>
              </a:solidFill>
              <a:latin typeface="Roboto Condensed"/>
              <a:ea typeface="Roboto Condensed"/>
              <a:cs typeface="Roboto Condensed"/>
              <a:sym typeface="Roboto Condensed"/>
            </a:endParaRPr>
          </a:p>
        </p:txBody>
      </p:sp>
      <p:sp>
        <p:nvSpPr>
          <p:cNvPr id="132" name="Google Shape;132;p20"/>
          <p:cNvSpPr txBox="1"/>
          <p:nvPr/>
        </p:nvSpPr>
        <p:spPr>
          <a:xfrm>
            <a:off x="425900" y="731200"/>
            <a:ext cx="4829100" cy="35538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Clr>
                <a:srgbClr val="20124D"/>
              </a:buClr>
              <a:buSzPts val="2200"/>
              <a:buFont typeface="Roboto Condensed"/>
              <a:buChar char="■"/>
            </a:pPr>
            <a:r>
              <a:rPr b="1" lang="en" sz="2200">
                <a:solidFill>
                  <a:srgbClr val="20124D"/>
                </a:solidFill>
                <a:latin typeface="Roboto Condensed"/>
                <a:ea typeface="Roboto Condensed"/>
                <a:cs typeface="Roboto Condensed"/>
                <a:sym typeface="Roboto Condensed"/>
              </a:rPr>
              <a:t>The Ku Klux Klan</a:t>
            </a:r>
            <a:r>
              <a:rPr lang="en" sz="2200">
                <a:solidFill>
                  <a:srgbClr val="20124D"/>
                </a:solidFill>
                <a:latin typeface="Roboto Condensed"/>
                <a:ea typeface="Roboto Condensed"/>
                <a:cs typeface="Roboto Condensed"/>
                <a:sym typeface="Roboto Condensed"/>
              </a:rPr>
              <a:t> sought to “reclaim the night”</a:t>
            </a:r>
            <a:endParaRPr sz="2200">
              <a:solidFill>
                <a:srgbClr val="20124D"/>
              </a:solidFill>
              <a:latin typeface="Roboto Condensed"/>
              <a:ea typeface="Roboto Condensed"/>
              <a:cs typeface="Roboto Condensed"/>
              <a:sym typeface="Roboto Condensed"/>
            </a:endParaRPr>
          </a:p>
          <a:p>
            <a:pPr indent="-368300" lvl="1" marL="914400" rtl="0" algn="l">
              <a:lnSpc>
                <a:spcPct val="115000"/>
              </a:lnSpc>
              <a:spcBef>
                <a:spcPts val="0"/>
              </a:spcBef>
              <a:spcAft>
                <a:spcPts val="0"/>
              </a:spcAft>
              <a:buClr>
                <a:srgbClr val="20124D"/>
              </a:buClr>
              <a:buSzPts val="2200"/>
              <a:buFont typeface="Roboto Condensed"/>
              <a:buChar char="○"/>
            </a:pPr>
            <a:r>
              <a:rPr lang="en" sz="2200">
                <a:solidFill>
                  <a:srgbClr val="20124D"/>
                </a:solidFill>
                <a:latin typeface="Roboto Condensed"/>
                <a:ea typeface="Roboto Condensed"/>
                <a:cs typeface="Roboto Condensed"/>
                <a:sym typeface="Roboto Condensed"/>
              </a:rPr>
              <a:t>It has originally been controlled by whites who banned any sort of black activity at night on plantations</a:t>
            </a:r>
            <a:endParaRPr sz="2200">
              <a:solidFill>
                <a:srgbClr val="20124D"/>
              </a:solidFill>
              <a:latin typeface="Roboto Condensed"/>
              <a:ea typeface="Roboto Condensed"/>
              <a:cs typeface="Roboto Condensed"/>
              <a:sym typeface="Roboto Condensed"/>
            </a:endParaRPr>
          </a:p>
          <a:p>
            <a:pPr indent="-368300" lvl="1" marL="914400" rtl="0" algn="l">
              <a:lnSpc>
                <a:spcPct val="115000"/>
              </a:lnSpc>
              <a:spcBef>
                <a:spcPts val="0"/>
              </a:spcBef>
              <a:spcAft>
                <a:spcPts val="0"/>
              </a:spcAft>
              <a:buClr>
                <a:srgbClr val="20124D"/>
              </a:buClr>
              <a:buSzPts val="2200"/>
              <a:buFont typeface="Roboto Condensed"/>
              <a:buChar char="○"/>
            </a:pPr>
            <a:r>
              <a:rPr lang="en" sz="2200">
                <a:solidFill>
                  <a:srgbClr val="20124D"/>
                </a:solidFill>
                <a:latin typeface="Roboto Condensed"/>
                <a:ea typeface="Roboto Condensed"/>
                <a:cs typeface="Roboto Condensed"/>
                <a:sym typeface="Roboto Condensed"/>
              </a:rPr>
              <a:t>Since emancipation, African-Americans had help church, parades, and meetings at night</a:t>
            </a:r>
            <a:endParaRPr sz="2200">
              <a:solidFill>
                <a:srgbClr val="20124D"/>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800">
              <a:solidFill>
                <a:srgbClr val="FFFFFF"/>
              </a:solidFill>
              <a:latin typeface="Roboto Condensed"/>
              <a:ea typeface="Roboto Condensed"/>
              <a:cs typeface="Roboto Condensed"/>
              <a:sym typeface="Roboto Condensed"/>
            </a:endParaRPr>
          </a:p>
        </p:txBody>
      </p:sp>
      <p:pic>
        <p:nvPicPr>
          <p:cNvPr descr="The Ku Klux Klan, organized in the late 1860s to deny rights to southern blacks, begins with threats and quickly incorporates violence." id="133" name="Google Shape;133;p20" title="The Early Ku Klux Klan and White Supremacy">
            <a:hlinkClick r:id="rId4"/>
          </p:cNvPr>
          <p:cNvPicPr preferRelativeResize="0"/>
          <p:nvPr/>
        </p:nvPicPr>
        <p:blipFill>
          <a:blip r:embed="rId5">
            <a:alphaModFix/>
          </a:blip>
          <a:stretch>
            <a:fillRect/>
          </a:stretch>
        </p:blipFill>
        <p:spPr>
          <a:xfrm>
            <a:off x="5483475" y="2324925"/>
            <a:ext cx="3060625" cy="2295475"/>
          </a:xfrm>
          <a:prstGeom prst="rect">
            <a:avLst/>
          </a:prstGeom>
          <a:noFill/>
          <a:ln>
            <a:noFill/>
          </a:ln>
        </p:spPr>
      </p:pic>
      <p:pic>
        <p:nvPicPr>
          <p:cNvPr id="134" name="Google Shape;134;p20"/>
          <p:cNvPicPr preferRelativeResize="0"/>
          <p:nvPr/>
        </p:nvPicPr>
        <p:blipFill rotWithShape="1">
          <a:blip r:embed="rId6">
            <a:alphaModFix/>
          </a:blip>
          <a:srcRect b="7840" l="0" r="0" t="16699"/>
          <a:stretch/>
        </p:blipFill>
        <p:spPr>
          <a:xfrm>
            <a:off x="5780275" y="508525"/>
            <a:ext cx="2792274" cy="1585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1"/>
          <p:cNvPicPr preferRelativeResize="0"/>
          <p:nvPr/>
        </p:nvPicPr>
        <p:blipFill>
          <a:blip r:embed="rId3">
            <a:alphaModFix/>
          </a:blip>
          <a:stretch>
            <a:fillRect/>
          </a:stretch>
        </p:blipFill>
        <p:spPr>
          <a:xfrm>
            <a:off x="0" y="0"/>
            <a:ext cx="9144000" cy="5143500"/>
          </a:xfrm>
          <a:prstGeom prst="rect">
            <a:avLst/>
          </a:prstGeom>
          <a:noFill/>
          <a:ln>
            <a:noFill/>
          </a:ln>
        </p:spPr>
      </p:pic>
      <p:sp>
        <p:nvSpPr>
          <p:cNvPr id="140" name="Google Shape;140;p21"/>
          <p:cNvSpPr/>
          <p:nvPr/>
        </p:nvSpPr>
        <p:spPr>
          <a:xfrm>
            <a:off x="281350" y="271300"/>
            <a:ext cx="8550900" cy="4612200"/>
          </a:xfrm>
          <a:prstGeom prst="rect">
            <a:avLst/>
          </a:prstGeom>
          <a:noFill/>
          <a:ln cap="flat" cmpd="sng" w="76200">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1"/>
          <p:cNvSpPr/>
          <p:nvPr/>
        </p:nvSpPr>
        <p:spPr>
          <a:xfrm>
            <a:off x="281350" y="271300"/>
            <a:ext cx="4894800" cy="4599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“REDEMPTION”</a:t>
            </a:r>
            <a:endParaRPr b="1" sz="3400">
              <a:solidFill>
                <a:schemeClr val="lt1"/>
              </a:solidFill>
              <a:latin typeface="Roboto Condensed"/>
              <a:ea typeface="Roboto Condensed"/>
              <a:cs typeface="Roboto Condensed"/>
              <a:sym typeface="Roboto Condensed"/>
            </a:endParaRPr>
          </a:p>
        </p:txBody>
      </p:sp>
      <p:sp>
        <p:nvSpPr>
          <p:cNvPr id="142" name="Google Shape;142;p21"/>
          <p:cNvSpPr txBox="1"/>
          <p:nvPr/>
        </p:nvSpPr>
        <p:spPr>
          <a:xfrm>
            <a:off x="425900" y="731200"/>
            <a:ext cx="4829100" cy="35538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In 1875, Mississippi whites carry out a plan to cause as much violence as possible to tilt state elections for white democrats</a:t>
            </a:r>
            <a:endParaRPr sz="2000">
              <a:solidFill>
                <a:srgbClr val="20124D"/>
              </a:solidFill>
              <a:latin typeface="Roboto Condensed"/>
              <a:ea typeface="Roboto Condensed"/>
              <a:cs typeface="Roboto Condensed"/>
              <a:sym typeface="Roboto Condensed"/>
            </a:endParaRPr>
          </a:p>
          <a:p>
            <a:pPr indent="-355600" lvl="0" marL="4572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As many as 60,000 African-Americans and whites were prevented from voting through violence and murder</a:t>
            </a:r>
            <a:endParaRPr sz="2000">
              <a:solidFill>
                <a:srgbClr val="20124D"/>
              </a:solidFill>
              <a:latin typeface="Roboto Condensed"/>
              <a:ea typeface="Roboto Condensed"/>
              <a:cs typeface="Roboto Condensed"/>
              <a:sym typeface="Roboto Condensed"/>
            </a:endParaRPr>
          </a:p>
          <a:p>
            <a:pPr indent="-355600" lvl="0" marL="4572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Grant refuses to send in military for help → northern public had no appetite</a:t>
            </a:r>
            <a:endParaRPr sz="2000">
              <a:solidFill>
                <a:srgbClr val="20124D"/>
              </a:solidFill>
              <a:latin typeface="Roboto Condensed"/>
              <a:ea typeface="Roboto Condensed"/>
              <a:cs typeface="Roboto Condensed"/>
              <a:sym typeface="Roboto Condensed"/>
            </a:endParaRPr>
          </a:p>
          <a:p>
            <a:pPr indent="-355600" lvl="0" marL="4572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Newly elected white officials become known as “redeemers”</a:t>
            </a:r>
            <a:endParaRPr sz="2000">
              <a:solidFill>
                <a:srgbClr val="20124D"/>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700">
              <a:solidFill>
                <a:srgbClr val="FFFFFF"/>
              </a:solidFill>
              <a:latin typeface="Roboto Condensed"/>
              <a:ea typeface="Roboto Condensed"/>
              <a:cs typeface="Roboto Condensed"/>
              <a:sym typeface="Roboto Condensed"/>
            </a:endParaRPr>
          </a:p>
        </p:txBody>
      </p:sp>
      <p:pic>
        <p:nvPicPr>
          <p:cNvPr id="143" name="Google Shape;143;p21"/>
          <p:cNvPicPr preferRelativeResize="0"/>
          <p:nvPr/>
        </p:nvPicPr>
        <p:blipFill>
          <a:blip r:embed="rId4">
            <a:alphaModFix/>
          </a:blip>
          <a:stretch>
            <a:fillRect/>
          </a:stretch>
        </p:blipFill>
        <p:spPr>
          <a:xfrm>
            <a:off x="5416850" y="460250"/>
            <a:ext cx="3179676" cy="2111500"/>
          </a:xfrm>
          <a:prstGeom prst="rect">
            <a:avLst/>
          </a:prstGeom>
          <a:noFill/>
          <a:ln>
            <a:noFill/>
          </a:ln>
        </p:spPr>
      </p:pic>
      <p:pic>
        <p:nvPicPr>
          <p:cNvPr id="144" name="Google Shape;144;p21"/>
          <p:cNvPicPr preferRelativeResize="0"/>
          <p:nvPr/>
        </p:nvPicPr>
        <p:blipFill>
          <a:blip r:embed="rId5">
            <a:alphaModFix/>
          </a:blip>
          <a:stretch>
            <a:fillRect/>
          </a:stretch>
        </p:blipFill>
        <p:spPr>
          <a:xfrm>
            <a:off x="5416850" y="2678149"/>
            <a:ext cx="3179676" cy="21197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22"/>
          <p:cNvPicPr preferRelativeResize="0"/>
          <p:nvPr/>
        </p:nvPicPr>
        <p:blipFill>
          <a:blip r:embed="rId3">
            <a:alphaModFix/>
          </a:blip>
          <a:stretch>
            <a:fillRect/>
          </a:stretch>
        </p:blipFill>
        <p:spPr>
          <a:xfrm>
            <a:off x="0" y="0"/>
            <a:ext cx="9144000" cy="5143500"/>
          </a:xfrm>
          <a:prstGeom prst="rect">
            <a:avLst/>
          </a:prstGeom>
          <a:noFill/>
          <a:ln>
            <a:noFill/>
          </a:ln>
        </p:spPr>
      </p:pic>
      <p:sp>
        <p:nvSpPr>
          <p:cNvPr id="150" name="Google Shape;150;p22"/>
          <p:cNvSpPr/>
          <p:nvPr/>
        </p:nvSpPr>
        <p:spPr>
          <a:xfrm>
            <a:off x="281350" y="271300"/>
            <a:ext cx="8550900" cy="4612200"/>
          </a:xfrm>
          <a:prstGeom prst="rect">
            <a:avLst/>
          </a:prstGeom>
          <a:noFill/>
          <a:ln cap="flat" cmpd="sng" w="76200">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2"/>
          <p:cNvSpPr/>
          <p:nvPr/>
        </p:nvSpPr>
        <p:spPr>
          <a:xfrm>
            <a:off x="281350" y="271300"/>
            <a:ext cx="4894800" cy="4599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ELECTION OF 1876</a:t>
            </a:r>
            <a:endParaRPr b="1" sz="3400">
              <a:solidFill>
                <a:schemeClr val="lt1"/>
              </a:solidFill>
              <a:latin typeface="Roboto Condensed"/>
              <a:ea typeface="Roboto Condensed"/>
              <a:cs typeface="Roboto Condensed"/>
              <a:sym typeface="Roboto Condensed"/>
            </a:endParaRPr>
          </a:p>
        </p:txBody>
      </p:sp>
      <p:sp>
        <p:nvSpPr>
          <p:cNvPr id="152" name="Google Shape;152;p22"/>
          <p:cNvSpPr txBox="1"/>
          <p:nvPr/>
        </p:nvSpPr>
        <p:spPr>
          <a:xfrm>
            <a:off x="425900" y="862350"/>
            <a:ext cx="4848600" cy="34227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rgbClr val="20124D"/>
              </a:buClr>
              <a:buSzPts val="1900"/>
              <a:buFont typeface="Roboto Condensed"/>
              <a:buChar char="■"/>
            </a:pPr>
            <a:r>
              <a:rPr lang="en" sz="1900">
                <a:solidFill>
                  <a:srgbClr val="20124D"/>
                </a:solidFill>
                <a:latin typeface="Roboto Condensed"/>
                <a:ea typeface="Roboto Condensed"/>
                <a:cs typeface="Roboto Condensed"/>
                <a:sym typeface="Roboto Condensed"/>
              </a:rPr>
              <a:t>Rutherford B Hayes ® runs against Sam Tilden (D)</a:t>
            </a:r>
            <a:endParaRPr sz="1900">
              <a:solidFill>
                <a:srgbClr val="20124D"/>
              </a:solidFill>
              <a:latin typeface="Roboto Condensed"/>
              <a:ea typeface="Roboto Condensed"/>
              <a:cs typeface="Roboto Condensed"/>
              <a:sym typeface="Roboto Condensed"/>
            </a:endParaRPr>
          </a:p>
          <a:p>
            <a:pPr indent="-349250" lvl="0" marL="457200" rtl="0" algn="l">
              <a:lnSpc>
                <a:spcPct val="115000"/>
              </a:lnSpc>
              <a:spcBef>
                <a:spcPts val="0"/>
              </a:spcBef>
              <a:spcAft>
                <a:spcPts val="0"/>
              </a:spcAft>
              <a:buClr>
                <a:srgbClr val="20124D"/>
              </a:buClr>
              <a:buSzPts val="1900"/>
              <a:buFont typeface="Roboto Condensed"/>
              <a:buChar char="■"/>
            </a:pPr>
            <a:r>
              <a:rPr lang="en" sz="1900">
                <a:solidFill>
                  <a:srgbClr val="20124D"/>
                </a:solidFill>
                <a:latin typeface="Roboto Condensed"/>
                <a:ea typeface="Roboto Condensed"/>
                <a:cs typeface="Roboto Condensed"/>
                <a:sym typeface="Roboto Condensed"/>
              </a:rPr>
              <a:t>Widespread violence throws results into chaos and confusion → both parties claim they won SC, FL, and LA</a:t>
            </a:r>
            <a:endParaRPr sz="1900">
              <a:solidFill>
                <a:srgbClr val="20124D"/>
              </a:solidFill>
              <a:latin typeface="Roboto Condensed"/>
              <a:ea typeface="Roboto Condensed"/>
              <a:cs typeface="Roboto Condensed"/>
              <a:sym typeface="Roboto Condensed"/>
            </a:endParaRPr>
          </a:p>
          <a:p>
            <a:pPr indent="-349250" lvl="0" marL="457200" rtl="0" algn="l">
              <a:lnSpc>
                <a:spcPct val="115000"/>
              </a:lnSpc>
              <a:spcBef>
                <a:spcPts val="0"/>
              </a:spcBef>
              <a:spcAft>
                <a:spcPts val="0"/>
              </a:spcAft>
              <a:buClr>
                <a:srgbClr val="20124D"/>
              </a:buClr>
              <a:buSzPts val="1900"/>
              <a:buFont typeface="Roboto Condensed"/>
              <a:buChar char="■"/>
            </a:pPr>
            <a:r>
              <a:rPr lang="en" sz="1900">
                <a:solidFill>
                  <a:srgbClr val="20124D"/>
                </a:solidFill>
                <a:latin typeface="Roboto Condensed"/>
                <a:ea typeface="Roboto Condensed"/>
                <a:cs typeface="Roboto Condensed"/>
                <a:sym typeface="Roboto Condensed"/>
              </a:rPr>
              <a:t>Hayes’ people make a secret deal with the states to remove the military and end Reconstruction if they certify Hayes as the winner, making him President</a:t>
            </a:r>
            <a:endParaRPr sz="1900">
              <a:solidFill>
                <a:srgbClr val="20124D"/>
              </a:solidFill>
              <a:latin typeface="Roboto Condensed"/>
              <a:ea typeface="Roboto Condensed"/>
              <a:cs typeface="Roboto Condensed"/>
              <a:sym typeface="Roboto Condensed"/>
            </a:endParaRPr>
          </a:p>
          <a:p>
            <a:pPr indent="-349250" lvl="0" marL="457200" rtl="0" algn="l">
              <a:lnSpc>
                <a:spcPct val="115000"/>
              </a:lnSpc>
              <a:spcBef>
                <a:spcPts val="0"/>
              </a:spcBef>
              <a:spcAft>
                <a:spcPts val="0"/>
              </a:spcAft>
              <a:buClr>
                <a:srgbClr val="20124D"/>
              </a:buClr>
              <a:buSzPts val="1900"/>
              <a:buFont typeface="Roboto Condensed"/>
              <a:buChar char="■"/>
            </a:pPr>
            <a:r>
              <a:rPr lang="en" sz="1900">
                <a:solidFill>
                  <a:srgbClr val="20124D"/>
                </a:solidFill>
                <a:latin typeface="Roboto Condensed"/>
                <a:ea typeface="Roboto Condensed"/>
                <a:cs typeface="Roboto Condensed"/>
                <a:sym typeface="Roboto Condensed"/>
              </a:rPr>
              <a:t>Republican party collapses and Redeemers take full control; </a:t>
            </a:r>
            <a:r>
              <a:rPr b="1" lang="en" sz="1900">
                <a:solidFill>
                  <a:srgbClr val="20124D"/>
                </a:solidFill>
                <a:latin typeface="Roboto Condensed"/>
                <a:ea typeface="Roboto Condensed"/>
                <a:cs typeface="Roboto Condensed"/>
                <a:sym typeface="Roboto Condensed"/>
              </a:rPr>
              <a:t>Reconstruction Over</a:t>
            </a:r>
            <a:endParaRPr b="1" sz="1900">
              <a:solidFill>
                <a:srgbClr val="20124D"/>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700">
              <a:solidFill>
                <a:srgbClr val="FFFFFF"/>
              </a:solidFill>
              <a:latin typeface="Roboto Condensed"/>
              <a:ea typeface="Roboto Condensed"/>
              <a:cs typeface="Roboto Condensed"/>
              <a:sym typeface="Roboto Condensed"/>
            </a:endParaRPr>
          </a:p>
        </p:txBody>
      </p:sp>
      <p:pic>
        <p:nvPicPr>
          <p:cNvPr id="153" name="Google Shape;153;p22"/>
          <p:cNvPicPr preferRelativeResize="0"/>
          <p:nvPr/>
        </p:nvPicPr>
        <p:blipFill>
          <a:blip r:embed="rId4">
            <a:alphaModFix/>
          </a:blip>
          <a:stretch>
            <a:fillRect/>
          </a:stretch>
        </p:blipFill>
        <p:spPr>
          <a:xfrm>
            <a:off x="5770300" y="427250"/>
            <a:ext cx="2662399" cy="2298550"/>
          </a:xfrm>
          <a:prstGeom prst="rect">
            <a:avLst/>
          </a:prstGeom>
          <a:noFill/>
          <a:ln>
            <a:noFill/>
          </a:ln>
        </p:spPr>
      </p:pic>
      <p:pic>
        <p:nvPicPr>
          <p:cNvPr id="154" name="Google Shape;154;p22"/>
          <p:cNvPicPr preferRelativeResize="0"/>
          <p:nvPr/>
        </p:nvPicPr>
        <p:blipFill>
          <a:blip r:embed="rId5">
            <a:alphaModFix/>
          </a:blip>
          <a:stretch>
            <a:fillRect/>
          </a:stretch>
        </p:blipFill>
        <p:spPr>
          <a:xfrm>
            <a:off x="5451674" y="2826175"/>
            <a:ext cx="3033449" cy="1860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