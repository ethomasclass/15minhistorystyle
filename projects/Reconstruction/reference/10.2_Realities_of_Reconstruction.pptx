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Ubuntu Light"/>
      <p:regular r:id="rId25"/>
      <p:bold r:id="rId26"/>
      <p:italic r:id="rId27"/>
      <p:boldItalic r:id="rId28"/>
    </p:embeddedFont>
    <p:embeddedFont>
      <p:font typeface="Staatliches"/>
      <p:regular r:id="rId29"/>
    </p:embeddedFont>
    <p:embeddedFont>
      <p:font typeface="Roboto Condensed"/>
      <p:regular r:id="rId30"/>
      <p:bold r:id="rId31"/>
      <p:italic r:id="rId32"/>
      <p:boldItalic r:id="rId33"/>
    </p:embeddedFont>
    <p:embeddedFont>
      <p:font typeface="Oswal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buntuLight-bold.fntdata"/><Relationship Id="rId25" Type="http://schemas.openxmlformats.org/officeDocument/2006/relationships/font" Target="fonts/UbuntuLight-regular.fntdata"/><Relationship Id="rId28" Type="http://schemas.openxmlformats.org/officeDocument/2006/relationships/font" Target="fonts/UbuntuLight-boldItalic.fntdata"/><Relationship Id="rId27" Type="http://schemas.openxmlformats.org/officeDocument/2006/relationships/font" Target="fonts/UbuntuLigh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taatliche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Condensed-bold.fntdata"/><Relationship Id="rId30" Type="http://schemas.openxmlformats.org/officeDocument/2006/relationships/font" Target="fonts/RobotoCondensed-regular.fntdata"/><Relationship Id="rId11" Type="http://schemas.openxmlformats.org/officeDocument/2006/relationships/slide" Target="slides/slide6.xml"/><Relationship Id="rId33" Type="http://schemas.openxmlformats.org/officeDocument/2006/relationships/font" Target="fonts/RobotoCondensed-boldItalic.fntdata"/><Relationship Id="rId10" Type="http://schemas.openxmlformats.org/officeDocument/2006/relationships/slide" Target="slides/slide5.xml"/><Relationship Id="rId32" Type="http://schemas.openxmlformats.org/officeDocument/2006/relationships/font" Target="fonts/RobotoCondensed-italic.fntdata"/><Relationship Id="rId13" Type="http://schemas.openxmlformats.org/officeDocument/2006/relationships/slide" Target="slides/slide8.xml"/><Relationship Id="rId35" Type="http://schemas.openxmlformats.org/officeDocument/2006/relationships/font" Target="fonts/Oswald-bold.fntdata"/><Relationship Id="rId12" Type="http://schemas.openxmlformats.org/officeDocument/2006/relationships/slide" Target="slides/slide7.xml"/><Relationship Id="rId34" Type="http://schemas.openxmlformats.org/officeDocument/2006/relationships/font" Target="fonts/Oswald-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46dae395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46dae395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Sheet: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fae0161ff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fae0161ff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146dae39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146dae39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Pear Deck Multiple Choice Slide.</a:t>
            </a:r>
            <a:endParaRPr/>
          </a:p>
          <a:p>
            <a:pPr indent="0" lvl="0" marL="0" rtl="0" algn="l">
              <a:spcBef>
                <a:spcPts val="0"/>
              </a:spcBef>
              <a:spcAft>
                <a:spcPts val="0"/>
              </a:spcAft>
              <a:buNone/>
            </a:pPr>
            <a:r>
              <a:rPr lang="en"/>
              <a:t>🍐🍐Your current options are: A: Guaranteed employment working for people in agriculture, B: Access to public education, C: Economic independence and self-sufficiency, D: A new form of government assistance for the poor, </a:t>
            </a:r>
            <a:endParaRPr/>
          </a:p>
          <a:p>
            <a:pPr indent="0" lvl="0" marL="0" rtl="0" algn="l">
              <a:spcBef>
                <a:spcPts val="0"/>
              </a:spcBef>
              <a:spcAft>
                <a:spcPts val="0"/>
              </a:spcAft>
              <a:buNone/>
            </a:pPr>
            <a:r>
              <a:rPr lang="en"/>
              <a:t>🍐🍐Correct options are C: Economic independence and self-sufficiency</a:t>
            </a:r>
            <a:endParaRPr/>
          </a:p>
          <a:p>
            <a:pPr indent="0" lvl="0" marL="0" rtl="0" algn="l">
              <a:spcBef>
                <a:spcPts val="0"/>
              </a:spcBef>
              <a:spcAft>
                <a:spcPts val="0"/>
              </a:spcAft>
              <a:buNone/>
            </a:pPr>
            <a:r>
              <a:rPr lang="en"/>
              <a:t>🍐🍐Students will earn 1 points for this response.</a:t>
            </a:r>
            <a:endParaRPr/>
          </a:p>
          <a:p>
            <a:pPr indent="0" lvl="0" marL="0" rtl="0" algn="l">
              <a:spcBef>
                <a:spcPts val="0"/>
              </a:spcBef>
              <a:spcAft>
                <a:spcPts val="0"/>
              </a:spcAft>
              <a:buNone/>
            </a:pPr>
            <a:r>
              <a:rPr lang="en"/>
              <a:t>🍐 To edit the type of question or choices,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1d2f8284e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1d2f8284e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1d2f828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1d2f828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146dae395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146dae395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Pear Deck Multiple Choice Slide.</a:t>
            </a:r>
            <a:endParaRPr/>
          </a:p>
          <a:p>
            <a:pPr indent="0" lvl="0" marL="0" rtl="0" algn="l">
              <a:spcBef>
                <a:spcPts val="0"/>
              </a:spcBef>
              <a:spcAft>
                <a:spcPts val="0"/>
              </a:spcAft>
              <a:buNone/>
            </a:pPr>
            <a:r>
              <a:rPr lang="en"/>
              <a:t>🍐🍐Your current options are: A: It included full amnesty for all former Confederates, B: It was more lenient toward the Southern states, C: It imposed stricter conditions, including military oversight and the exclusion of ex-Confederates from voting and holding office, D: It focused solely on rebuilding Southern infrastructure, </a:t>
            </a:r>
            <a:endParaRPr/>
          </a:p>
          <a:p>
            <a:pPr indent="0" lvl="0" marL="0" rtl="0" algn="l">
              <a:spcBef>
                <a:spcPts val="0"/>
              </a:spcBef>
              <a:spcAft>
                <a:spcPts val="0"/>
              </a:spcAft>
              <a:buNone/>
            </a:pPr>
            <a:r>
              <a:rPr lang="en"/>
              <a:t>🍐🍐Correct options are C: It imposed stricter conditions, including military oversight and the exclusion of ex-Confederates from voting and holding office</a:t>
            </a:r>
            <a:endParaRPr/>
          </a:p>
          <a:p>
            <a:pPr indent="0" lvl="0" marL="0" rtl="0" algn="l">
              <a:spcBef>
                <a:spcPts val="0"/>
              </a:spcBef>
              <a:spcAft>
                <a:spcPts val="0"/>
              </a:spcAft>
              <a:buNone/>
            </a:pPr>
            <a:r>
              <a:rPr lang="en"/>
              <a:t>🍐🍐Students will earn 1 points for this response.</a:t>
            </a:r>
            <a:endParaRPr/>
          </a:p>
          <a:p>
            <a:pPr indent="0" lvl="0" marL="0" rtl="0" algn="l">
              <a:spcBef>
                <a:spcPts val="0"/>
              </a:spcBef>
              <a:spcAft>
                <a:spcPts val="0"/>
              </a:spcAft>
              <a:buNone/>
            </a:pPr>
            <a:r>
              <a:rPr lang="en"/>
              <a:t>🍐 To edit the type of question or choices,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1d2f8284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01d2f8284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1d2f8284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1d2f8284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46dae395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46dae395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Pear Deck Multiple Choice Slide.</a:t>
            </a:r>
            <a:endParaRPr/>
          </a:p>
          <a:p>
            <a:pPr indent="0" lvl="0" marL="0" rtl="0" algn="l">
              <a:spcBef>
                <a:spcPts val="0"/>
              </a:spcBef>
              <a:spcAft>
                <a:spcPts val="0"/>
              </a:spcAft>
              <a:buNone/>
            </a:pPr>
            <a:r>
              <a:rPr lang="en"/>
              <a:t>🍐🍐Your current options are: A:  He encouraged the creation of black codes, B: He refused to enforce the 15th Amendment, C: He vetoed the Reconstruction Act of 1867, D: He violated the Tenure of Office Act by firing Secretary of War Edwin Stanton, </a:t>
            </a:r>
            <a:endParaRPr/>
          </a:p>
          <a:p>
            <a:pPr indent="0" lvl="0" marL="0" rtl="0" algn="l">
              <a:spcBef>
                <a:spcPts val="0"/>
              </a:spcBef>
              <a:spcAft>
                <a:spcPts val="0"/>
              </a:spcAft>
              <a:buNone/>
            </a:pPr>
            <a:r>
              <a:rPr lang="en"/>
              <a:t>🍐🍐Correct options are D: He violated the Tenure of Office Act by firing Secretary of War Edwin Stanton</a:t>
            </a:r>
            <a:endParaRPr/>
          </a:p>
          <a:p>
            <a:pPr indent="0" lvl="0" marL="0" rtl="0" algn="l">
              <a:spcBef>
                <a:spcPts val="0"/>
              </a:spcBef>
              <a:spcAft>
                <a:spcPts val="0"/>
              </a:spcAft>
              <a:buNone/>
            </a:pPr>
            <a:r>
              <a:rPr lang="en"/>
              <a:t>🍐🍐Students will earn 1 points for this response.</a:t>
            </a:r>
            <a:endParaRPr/>
          </a:p>
          <a:p>
            <a:pPr indent="0" lvl="0" marL="0" rtl="0" algn="l">
              <a:spcBef>
                <a:spcPts val="0"/>
              </a:spcBef>
              <a:spcAft>
                <a:spcPts val="0"/>
              </a:spcAft>
              <a:buNone/>
            </a:pPr>
            <a:r>
              <a:rPr lang="en"/>
              <a:t>🍐 To edit the type of question or choices,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01d2f8284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01d2f8284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46dae395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146dae395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Pear Deck Multiple Choice Slide.</a:t>
            </a:r>
            <a:endParaRPr/>
          </a:p>
          <a:p>
            <a:pPr indent="0" lvl="0" marL="0" rtl="0" algn="l">
              <a:spcBef>
                <a:spcPts val="0"/>
              </a:spcBef>
              <a:spcAft>
                <a:spcPts val="0"/>
              </a:spcAft>
              <a:buNone/>
            </a:pPr>
            <a:r>
              <a:rPr lang="en"/>
              <a:t>🍐🍐Your current options are: A: White Southerners who supported the Republican Party for economic reasons, B:  Northerners who moved to the South, often accused of taking advantage of the region's economic troubles, but also helped rebuild the region and helped freedmen, C: Southern politicians who opposed Radical Republican policies, D: African-Americans who gained political power after the Civil War, </a:t>
            </a:r>
            <a:endParaRPr/>
          </a:p>
          <a:p>
            <a:pPr indent="0" lvl="0" marL="0" rtl="0" algn="l">
              <a:spcBef>
                <a:spcPts val="0"/>
              </a:spcBef>
              <a:spcAft>
                <a:spcPts val="0"/>
              </a:spcAft>
              <a:buNone/>
            </a:pPr>
            <a:r>
              <a:rPr lang="en"/>
              <a:t>🍐🍐Correct options are B:  Northerners who moved to the South, often accused of taking advantage of the region's economic troubles, but also helped rebuild the region and helped freedmen</a:t>
            </a:r>
            <a:endParaRPr/>
          </a:p>
          <a:p>
            <a:pPr indent="0" lvl="0" marL="0" rtl="0" algn="l">
              <a:spcBef>
                <a:spcPts val="0"/>
              </a:spcBef>
              <a:spcAft>
                <a:spcPts val="0"/>
              </a:spcAft>
              <a:buNone/>
            </a:pPr>
            <a:r>
              <a:rPr lang="en"/>
              <a:t>🍐🍐Students will earn 1 points for this response.</a:t>
            </a:r>
            <a:endParaRPr/>
          </a:p>
          <a:p>
            <a:pPr indent="0" lvl="0" marL="0" rtl="0" algn="l">
              <a:spcBef>
                <a:spcPts val="0"/>
              </a:spcBef>
              <a:spcAft>
                <a:spcPts val="0"/>
              </a:spcAft>
              <a:buNone/>
            </a:pPr>
            <a:r>
              <a:rPr lang="en"/>
              <a:t>🍐 To edit the type of question or choices,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01d2f8284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01d2f8284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01d2f8284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01d2f8284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1d2f8284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1d2f8284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01d2f8284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01d2f8284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1d2f8284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1d2f8284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01d2f8284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01d2f8284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46dae395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146dae395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Pear Deck Multiple Choice Slide.</a:t>
            </a:r>
            <a:endParaRPr/>
          </a:p>
          <a:p>
            <a:pPr indent="0" lvl="0" marL="0" rtl="0" algn="l">
              <a:spcBef>
                <a:spcPts val="0"/>
              </a:spcBef>
              <a:spcAft>
                <a:spcPts val="0"/>
              </a:spcAft>
              <a:buNone/>
            </a:pPr>
            <a:r>
              <a:rPr lang="en"/>
              <a:t>🍐🍐Your current options are: A: They allowed police to arrest African-Americans without jobs and forced them into labor for local white farmers, B: They protected African-Americans from unfair labor practices, C: They encouraged African-Americans to purchase land for farming, D: They led to more educational opportunities for African-American children, </a:t>
            </a:r>
            <a:endParaRPr/>
          </a:p>
          <a:p>
            <a:pPr indent="0" lvl="0" marL="0" rtl="0" algn="l">
              <a:spcBef>
                <a:spcPts val="0"/>
              </a:spcBef>
              <a:spcAft>
                <a:spcPts val="0"/>
              </a:spcAft>
              <a:buNone/>
            </a:pPr>
            <a:r>
              <a:rPr lang="en"/>
              <a:t>🍐🍐Correct options are A: They allowed police to arrest African-Americans without jobs and forced them into labor for local white farmers</a:t>
            </a:r>
            <a:endParaRPr/>
          </a:p>
          <a:p>
            <a:pPr indent="0" lvl="0" marL="0" rtl="0" algn="l">
              <a:spcBef>
                <a:spcPts val="0"/>
              </a:spcBef>
              <a:spcAft>
                <a:spcPts val="0"/>
              </a:spcAft>
              <a:buNone/>
            </a:pPr>
            <a:r>
              <a:rPr lang="en"/>
              <a:t>🍐🍐Students will earn 1 points for this response.</a:t>
            </a:r>
            <a:endParaRPr/>
          </a:p>
          <a:p>
            <a:pPr indent="0" lvl="0" marL="0" rtl="0" algn="l">
              <a:spcBef>
                <a:spcPts val="0"/>
              </a:spcBef>
              <a:spcAft>
                <a:spcPts val="0"/>
              </a:spcAft>
              <a:buNone/>
            </a:pPr>
            <a:r>
              <a:rPr lang="en"/>
              <a:t>🍐 To edit the type of question or choices, go back to the "Make Your Lessons Interactive" in the Pear Deck sidebar.</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hyperlink" Target="http://www.youtube.com/watch?v=pjseZOhmxy8" TargetMode="External"/><Relationship Id="rId5"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dontchangethislink.peardeckmagic.zone?eyJ0eXBlIjoibXVsdGlwbGVDaG9pY2UiLCJhbnN3ZXJzIjpbIkd1YXJhbnRlZWQgZW1wbG95bWVudCB3b3JraW5nIGZvciBwZW9wbGUgaW4gYWdyaWN1bHR1cmUiLCJBY2Nlc3MgdG8gcHVibGljIGVkdWNhdGlvbiIsIkVjb25vbWljIGluZGVwZW5kZW5jZSBhbmQgc2VsZi1zdWZmaWNpZW5jeSIsIkEgbmV3IGZvcm0gb2YgZ292ZXJubWVudCBhc3Npc3RhbmNlIGZvciB0aGUgcG9vciJdLCJjb3JyZWN0T3B0aW9ucyI6WzJdLCJxdWVzdGlvblZhbHVlIjoxfQ==pearId=magic-pear-shape-identifier" TargetMode="External"/><Relationship Id="rId4" Type="http://schemas.openxmlformats.org/officeDocument/2006/relationships/image" Target="../media/image6.png"/><Relationship Id="rId5" Type="http://schemas.openxmlformats.org/officeDocument/2006/relationships/hyperlink" Target="http://dontchangethislink.peardeckmagic.zone?eyJ0eXBlIjoiZ29vZ2xlLXNsaWRlcy1hZGRvbi1yZXNwb25zZS1mb290ZXIiLCJsYXN0RWRpdGVkQnkiOiIxMTUyNzM3MzI2ODgzMzE3NjUwMzAiLCJwcmVzZW50YXRpb25JZCI6IjFLM0R4eXgySk1TZUliWml5TmphNHpnLTRZTjYwY1ZtVW90dnJpaVlJNENrIiwiY29udGVudElkIjoiY3VzdG9tLXJlc3BvbnNlLW11bHRpcGxlQ2hvaWNlIiwic2xpZGVJZCI6ImczMTQ2ZGFlMzk1Ml8wXzAiLCJjb250ZW50SW5zdGFuY2VJZCI6IjFLM0R4eXgySk1TZUliWml5TmphNHpnLTRZTjYwY1ZtVW90dnJpaVlJNENrL2M3YzFiNThkLTA3OTgtNDA0NS04ZDkyLWI2NWVjNjQwYjUwMiJ9pearId=magic-pear-metadata-identifi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ontchangethislink.peardeckmagic.zone?eyJ0eXBlIjoibXVsdGlwbGVDaG9pY2UiLCJhbnN3ZXJzIjpbIkl0IGluY2x1ZGVkIGZ1bGwgYW1uZXN0eSBmb3IgYWxsIGZvcm1lciBDb25mZWRlcmF0ZXMiLCJJdCB3YXMgbW9yZSBsZW5pZW50IHRvd2FyZCB0aGUgU291dGhlcm4gc3RhdGVzIiwiSXQgaW1wb3NlZCBzdHJpY3RlciBjb25kaXRpb25zLCBpbmNsdWRpbmcgbWlsaXRhcnkgb3ZlcnNpZ2h0IGFuZCB0aGUgZXhjbHVzaW9uIG9mIGV4LUNvbmZlZGVyYXRlcyBmcm9tIHZvdGluZyBhbmQgaG9sZGluZyBvZmZpY2UiLCJJdCBmb2N1c2VkIHNvbGVseSBvbiByZWJ1aWxkaW5nIFNvdXRoZXJuIGluZnJhc3RydWN0dXJlIl0sImNvcnJlY3RPcHRpb25zIjpbMl0sInF1ZXN0aW9uVmFsdWUiOjF9pearId=magic-pear-shape-identifier" TargetMode="External"/><Relationship Id="rId4" Type="http://schemas.openxmlformats.org/officeDocument/2006/relationships/image" Target="../media/image6.png"/><Relationship Id="rId5" Type="http://schemas.openxmlformats.org/officeDocument/2006/relationships/hyperlink" Target="http://dontchangethislink.peardeckmagic.zone?eyJ0eXBlIjoiZ29vZ2xlLXNsaWRlcy1hZGRvbi1yZXNwb25zZS1mb290ZXIiLCJsYXN0RWRpdGVkQnkiOiIxMTUyNzM3MzI2ODgzMzE3NjUwMzAiLCJwcmVzZW50YXRpb25JZCI6IjFLM0R4eXgySk1TZUliWml5TmphNHpnLTRZTjYwY1ZtVW90dnJpaVlJNENrIiwiY29udGVudElkIjoiY3VzdG9tLXJlc3BvbnNlLW11bHRpcGxlQ2hvaWNlIiwic2xpZGVJZCI6ImczMTQ2ZGFlMzk1Ml8wXzEyIiwiY29udGVudEluc3RhbmNlSWQiOiIxSzNEeHl4MkpNU2VJYlppeU5qYTR6Zy00WU42MGNWbVVvdHZyaWlZSTRDay84M2JhNDllMS04ZDNlLTQ2OGItODJlOC1kMTk5MTk2MmVhOTAifQ==pearId=magic-pear-metadata-identif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2.gif"/><Relationship Id="rId6" Type="http://schemas.openxmlformats.org/officeDocument/2006/relationships/image" Target="../media/image5.png"/><Relationship Id="rId7"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7.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dontchangethislink.peardeckmagic.zone?eyJ0eXBlIjoibXVsdGlwbGVDaG9pY2UiLCJhbnN3ZXJzIjpbIiBIZSBlbmNvdXJhZ2VkIHRoZSBjcmVhdGlvbiBvZiBibGFjayBjb2RlcyIsIkhlIHJlZnVzZWQgdG8gZW5mb3JjZSB0aGUgMTV0aCBBbWVuZG1lbnQiLCJIZSB2ZXRvZWQgdGhlIFJlY29uc3RydWN0aW9uIEFjdCBvZiAxODY3IiwiSGUgdmlvbGF0ZWQgdGhlIFRlbnVyZSBvZiBPZmZpY2UgQWN0IGJ5IGZpcmluZyBTZWNyZXRhcnkgb2YgV2FyIEVkd2luIFN0YW50b24iXSwiY29ycmVjdE9wdGlvbnMiOlszXSwicXVlc3Rpb25WYWx1ZSI6MX0=pearId=magic-pear-shape-identifier" TargetMode="External"/><Relationship Id="rId4" Type="http://schemas.openxmlformats.org/officeDocument/2006/relationships/image" Target="../media/image6.png"/><Relationship Id="rId5" Type="http://schemas.openxmlformats.org/officeDocument/2006/relationships/hyperlink" Target="http://dontchangethislink.peardeckmagic.zone?eyJ0eXBlIjoiZ29vZ2xlLXNsaWRlcy1hZGRvbi1yZXNwb25zZS1mb290ZXIiLCJsYXN0RWRpdGVkQnkiOiIxMTUyNzM3MzI2ODgzMzE3NjUwMzAiLCJwcmVzZW50YXRpb25JZCI6IjFLM0R4eXgySk1TZUliWml5TmphNHpnLTRZTjYwY1ZtVW90dnJpaVlJNENrIiwiY29udGVudElkIjoiY3VzdG9tLXJlc3BvbnNlLW11bHRpcGxlQ2hvaWNlIiwic2xpZGVJZCI6ImczMTQ2ZGFlMzk1Ml8wXzE4IiwiY29udGVudEluc3RhbmNlSWQiOiIxSzNEeHl4MkpNU2VJYlppeU5qYTR6Zy00WU42MGNWbVVvdHZyaWlZSTRDay80N2U3ZDllMS01ZWRkLTRmYjYtYmVlYy1jM2UzNzdhMjYyYjYifQ==pearId=magic-pear-metadata-identifi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dontchangethislink.peardeckmagic.zone?eyJ0eXBlIjoibXVsdGlwbGVDaG9pY2UiLCJhbnN3ZXJzIjpbIldoaXRlIFNvdXRoZXJuZXJzIHdobyBzdXBwb3J0ZWQgdGhlIFJlcHVibGljYW4gUGFydHkgZm9yIGVjb25vbWljIHJlYXNvbnMiLCIgTm9ydGhlcm5lcnMgd2hvIG1vdmVkIHRvIHRoZSBTb3V0aCwgb2Z0ZW4gYWNjdXNlZCBvZiB0YWtpbmcgYWR2YW50YWdlIG9mIHRoZSByZWdpb24ncyBlY29ub21pYyB0cm91YmxlcywgYnV0IGFsc28gaGVscGVkIHJlYnVpbGQgdGhlIHJlZ2lvbiBhbmQgaGVscGVkIGZyZWVkbWVuIiwiU291dGhlcm4gcG9saXRpY2lhbnMgd2hvIG9wcG9zZWQgUmFkaWNhbCBSZXB1YmxpY2FuIHBvbGljaWVzIiwiQWZyaWNhbi1BbWVyaWNhbnMgd2hvIGdhaW5lZCBwb2xpdGljYWwgcG93ZXIgYWZ0ZXIgdGhlIENpdmlsIFdhciJdLCJjb3JyZWN0T3B0aW9ucyI6WzFdLCJxdWVzdGlvblZhbHVlIjoxfQ==pearId=magic-pear-shape-identifier" TargetMode="External"/><Relationship Id="rId4" Type="http://schemas.openxmlformats.org/officeDocument/2006/relationships/image" Target="../media/image6.png"/><Relationship Id="rId5" Type="http://schemas.openxmlformats.org/officeDocument/2006/relationships/hyperlink" Target="http://dontchangethislink.peardeckmagic.zone?eyJ0eXBlIjoiZ29vZ2xlLXNsaWRlcy1hZGRvbi1yZXNwb25zZS1mb290ZXIiLCJsYXN0RWRpdGVkQnkiOiIxMTUyNzM3MzI2ODgzMzE3NjUwMzAiLCJwcmVzZW50YXRpb25JZCI6IjFLM0R4eXgySk1TZUliWml5TmphNHpnLTRZTjYwY1ZtVW90dnJpaVlJNENrIiwiY29udGVudElkIjoiY3VzdG9tLXJlc3BvbnNlLW11bHRpcGxlQ2hvaWNlIiwic2xpZGVJZCI6ImczMTQ2ZGFlMzk1Ml8wXzI1IiwiY29udGVudEluc3RhbmNlSWQiOiIxSzNEeHl4MkpNU2VJYlppeU5qYTR6Zy00WU42MGNWbVVvdHZyaWlZSTRDay85ODYyYTQ0ZC0yZWE1LTRkYjctODMzYS1iMjQwMmVkZTBhNjAifQ==pearId=magic-pear-metadata-identifi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hyperlink" Target="http://www.youtube.com/watch?v=7x_m1EkyB_E" TargetMode="External"/><Relationship Id="rId5" Type="http://schemas.openxmlformats.org/officeDocument/2006/relationships/image" Target="../media/image30.jp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33.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hyperlink" Target="http://www.youtube.com/watch?v=s81gUknoKAA" TargetMode="External"/><Relationship Id="rId5"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dontchangethislink.peardeckmagic.zone?eyJ0eXBlIjoibXVsdGlwbGVDaG9pY2UiLCJhbnN3ZXJzIjpbIlRoZXkgYWxsb3dlZCBwb2xpY2UgdG8gYXJyZXN0IEFmcmljYW4tQW1lcmljYW5zIHdpdGhvdXQgam9icyBhbmQgZm9yY2VkIHRoZW0gaW50byBsYWJvciBmb3IgbG9jYWwgd2hpdGUgZmFybWVycyIsIlRoZXkgcHJvdGVjdGVkIEFmcmljYW4tQW1lcmljYW5zIGZyb20gdW5mYWlyIGxhYm9yIHByYWN0aWNlcyIsIlRoZXkgZW5jb3VyYWdlZCBBZnJpY2FuLUFtZXJpY2FucyB0byBwdXJjaGFzZSBsYW5kIGZvciBmYXJtaW5nIiwiVGhleSBsZWQgdG8gbW9yZSBlZHVjYXRpb25hbCBvcHBvcnR1bml0aWVzIGZvciBBZnJpY2FuLUFtZXJpY2FuIGNoaWxkcmVuIl0sImNvcnJlY3RPcHRpb25zIjpbMF0sInF1ZXN0aW9uVmFsdWUiOjF9pearId=magic-pear-shape-identifier" TargetMode="External"/><Relationship Id="rId4" Type="http://schemas.openxmlformats.org/officeDocument/2006/relationships/image" Target="../media/image6.png"/><Relationship Id="rId5" Type="http://schemas.openxmlformats.org/officeDocument/2006/relationships/hyperlink" Target="http://dontchangethislink.peardeckmagic.zone?eyJ0eXBlIjoiZ29vZ2xlLXNsaWRlcy1hZGRvbi1yZXNwb25zZS1mb290ZXIiLCJsYXN0RWRpdGVkQnkiOiIxMTUyNzM3MzI2ODgzMzE3NjUwMzAiLCJwcmVzZW50YXRpb25JZCI6IjFLM0R4eXgySk1TZUliWml5TmphNHpnLTRZTjYwY1ZtVW90dnJpaVlJNENrIiwiY29udGVudElkIjoiY3VzdG9tLXJlc3BvbnNlLW11bHRpcGxlQ2hvaWNlIiwic2xpZGVJZCI6ImczMTQ2ZGFlMzk1Ml8wXzMyIiwiY29udGVudEluc3RhbmNlSWQiOiIxSzNEeHl4MkpNU2VJYlppeU5qYTR6Zy00WU42MGNWbVVvdHZyaWlZSTRDay82ZTRkNjNkYi0wNjM5LTRkNGMtOTkyNC0yZTk0YWE0OTI5ZTkifQ==pearId=magic-pear-metadata-identifi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 name="Google Shape;55;p13"/>
          <p:cNvSpPr/>
          <p:nvPr/>
        </p:nvSpPr>
        <p:spPr>
          <a:xfrm>
            <a:off x="281350" y="271300"/>
            <a:ext cx="8550900" cy="4612200"/>
          </a:xfrm>
          <a:prstGeom prst="rect">
            <a:avLst/>
          </a:prstGeom>
          <a:noFill/>
          <a:ln cap="flat" cmpd="sng" w="762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296500" y="1482875"/>
            <a:ext cx="8520600" cy="18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FFFFFF"/>
                </a:solidFill>
                <a:latin typeface="Oswald"/>
                <a:ea typeface="Oswald"/>
                <a:cs typeface="Oswald"/>
                <a:sym typeface="Oswald"/>
              </a:rPr>
              <a:t>10.2</a:t>
            </a:r>
            <a:endParaRPr b="1" sz="2500">
              <a:solidFill>
                <a:srgbClr val="FFFFFF"/>
              </a:solidFill>
              <a:latin typeface="Oswald"/>
              <a:ea typeface="Oswald"/>
              <a:cs typeface="Oswald"/>
              <a:sym typeface="Oswald"/>
            </a:endParaRPr>
          </a:p>
          <a:p>
            <a:pPr indent="0" lvl="0" marL="0" rtl="0" algn="ctr">
              <a:spcBef>
                <a:spcPts val="0"/>
              </a:spcBef>
              <a:spcAft>
                <a:spcPts val="0"/>
              </a:spcAft>
              <a:buNone/>
            </a:pPr>
            <a:r>
              <a:rPr b="1" lang="en" sz="11100">
                <a:solidFill>
                  <a:srgbClr val="FFFFFF"/>
                </a:solidFill>
                <a:latin typeface="Oswald"/>
                <a:ea typeface="Oswald"/>
                <a:cs typeface="Oswald"/>
                <a:sym typeface="Oswald"/>
              </a:rPr>
              <a:t>REALITIES OF</a:t>
            </a:r>
            <a:endParaRPr b="1" sz="11100">
              <a:solidFill>
                <a:srgbClr val="FFFFFF"/>
              </a:solidFill>
              <a:latin typeface="Oswald"/>
              <a:ea typeface="Oswald"/>
              <a:cs typeface="Oswald"/>
              <a:sym typeface="Oswald"/>
            </a:endParaRPr>
          </a:p>
          <a:p>
            <a:pPr indent="0" lvl="0" marL="0" rtl="0" algn="ctr">
              <a:spcBef>
                <a:spcPts val="0"/>
              </a:spcBef>
              <a:spcAft>
                <a:spcPts val="0"/>
              </a:spcAft>
              <a:buNone/>
            </a:pPr>
            <a:r>
              <a:rPr b="1" lang="en" sz="7700">
                <a:solidFill>
                  <a:srgbClr val="FFFFFF"/>
                </a:solidFill>
                <a:latin typeface="Oswald"/>
                <a:ea typeface="Oswald"/>
                <a:cs typeface="Oswald"/>
                <a:sym typeface="Oswald"/>
              </a:rPr>
              <a:t>RECONSTRUCTION</a:t>
            </a:r>
            <a:endParaRPr b="1" sz="7700">
              <a:solidFill>
                <a:srgbClr val="FFFFFF"/>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nvSpPr>
        <p:spPr>
          <a:xfrm>
            <a:off x="1411800" y="389200"/>
            <a:ext cx="5189400" cy="77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5700">
                <a:solidFill>
                  <a:srgbClr val="E8C558"/>
                </a:solidFill>
                <a:latin typeface="Staatliches"/>
                <a:ea typeface="Staatliches"/>
                <a:cs typeface="Staatliches"/>
                <a:sym typeface="Staatliches"/>
              </a:rPr>
              <a:t>WED NOV 13 2024</a:t>
            </a:r>
            <a:endParaRPr sz="5700">
              <a:solidFill>
                <a:srgbClr val="E8C558"/>
              </a:solidFill>
              <a:latin typeface="Staatliches"/>
              <a:ea typeface="Staatliches"/>
              <a:cs typeface="Staatliches"/>
              <a:sym typeface="Staatliches"/>
            </a:endParaRPr>
          </a:p>
        </p:txBody>
      </p:sp>
      <p:sp>
        <p:nvSpPr>
          <p:cNvPr id="62" name="Google Shape;62;p14"/>
          <p:cNvSpPr txBox="1"/>
          <p:nvPr/>
        </p:nvSpPr>
        <p:spPr>
          <a:xfrm>
            <a:off x="747875" y="1752300"/>
            <a:ext cx="3258600" cy="2568000"/>
          </a:xfrm>
          <a:prstGeom prst="rect">
            <a:avLst/>
          </a:prstGeom>
          <a:noFill/>
          <a:ln>
            <a:noFill/>
          </a:ln>
        </p:spPr>
        <p:txBody>
          <a:bodyPr anchorCtr="0" anchor="t" bIns="91425" lIns="91425" spcFirstLastPara="1" rIns="91425" wrap="square" tIns="91425">
            <a:noAutofit/>
          </a:bodyPr>
          <a:lstStyle/>
          <a:p>
            <a:pPr indent="-247650" lvl="0" marL="228600" rtl="0" algn="l">
              <a:spcBef>
                <a:spcPts val="0"/>
              </a:spcBef>
              <a:spcAft>
                <a:spcPts val="0"/>
              </a:spcAft>
              <a:buClr>
                <a:srgbClr val="4C1130"/>
              </a:buClr>
              <a:buSzPts val="2100"/>
              <a:buFont typeface="Roboto Condensed"/>
              <a:buChar char="●"/>
            </a:pPr>
            <a:r>
              <a:rPr lang="en" sz="2100">
                <a:solidFill>
                  <a:srgbClr val="4C1130"/>
                </a:solidFill>
                <a:latin typeface="Roboto Condensed"/>
                <a:ea typeface="Roboto Condensed"/>
                <a:cs typeface="Roboto Condensed"/>
                <a:sym typeface="Roboto Condensed"/>
              </a:rPr>
              <a:t>Reconstruction for African Americans in the South</a:t>
            </a:r>
            <a:endParaRPr sz="2100">
              <a:solidFill>
                <a:srgbClr val="4C1130"/>
              </a:solidFill>
              <a:latin typeface="Roboto Condensed"/>
              <a:ea typeface="Roboto Condensed"/>
              <a:cs typeface="Roboto Condensed"/>
              <a:sym typeface="Roboto Condensed"/>
            </a:endParaRPr>
          </a:p>
          <a:p>
            <a:pPr indent="-247650" lvl="1" marL="457200" rtl="0" algn="l">
              <a:spcBef>
                <a:spcPts val="0"/>
              </a:spcBef>
              <a:spcAft>
                <a:spcPts val="0"/>
              </a:spcAft>
              <a:buClr>
                <a:srgbClr val="4C1130"/>
              </a:buClr>
              <a:buSzPts val="2100"/>
              <a:buFont typeface="Roboto Condensed"/>
              <a:buChar char="○"/>
            </a:pPr>
            <a:r>
              <a:rPr lang="en" sz="2100">
                <a:solidFill>
                  <a:srgbClr val="4C1130"/>
                </a:solidFill>
                <a:latin typeface="Roboto Condensed"/>
                <a:ea typeface="Roboto Condensed"/>
                <a:cs typeface="Roboto Condensed"/>
                <a:sym typeface="Roboto Condensed"/>
              </a:rPr>
              <a:t>Notes </a:t>
            </a:r>
            <a:endParaRPr sz="2100">
              <a:solidFill>
                <a:srgbClr val="4C1130"/>
              </a:solidFill>
              <a:latin typeface="Roboto Condensed"/>
              <a:ea typeface="Roboto Condensed"/>
              <a:cs typeface="Roboto Condensed"/>
              <a:sym typeface="Roboto Condensed"/>
            </a:endParaRPr>
          </a:p>
          <a:p>
            <a:pPr indent="-247650" lvl="1" marL="457200" rtl="0" algn="l">
              <a:spcBef>
                <a:spcPts val="0"/>
              </a:spcBef>
              <a:spcAft>
                <a:spcPts val="0"/>
              </a:spcAft>
              <a:buClr>
                <a:srgbClr val="4C1130"/>
              </a:buClr>
              <a:buSzPts val="2100"/>
              <a:buFont typeface="Roboto Condensed"/>
              <a:buChar char="○"/>
            </a:pPr>
            <a:r>
              <a:rPr lang="en" sz="2100">
                <a:solidFill>
                  <a:srgbClr val="4C1130"/>
                </a:solidFill>
                <a:latin typeface="Roboto Condensed"/>
                <a:ea typeface="Roboto Condensed"/>
                <a:cs typeface="Roboto Condensed"/>
                <a:sym typeface="Roboto Condensed"/>
              </a:rPr>
              <a:t>Videos</a:t>
            </a:r>
            <a:endParaRPr sz="2100">
              <a:solidFill>
                <a:srgbClr val="4C1130"/>
              </a:solidFill>
              <a:latin typeface="Roboto Condensed"/>
              <a:ea typeface="Roboto Condensed"/>
              <a:cs typeface="Roboto Condensed"/>
              <a:sym typeface="Roboto Condensed"/>
            </a:endParaRPr>
          </a:p>
          <a:p>
            <a:pPr indent="-247650" lvl="1" marL="457200" rtl="0" algn="l">
              <a:spcBef>
                <a:spcPts val="0"/>
              </a:spcBef>
              <a:spcAft>
                <a:spcPts val="0"/>
              </a:spcAft>
              <a:buClr>
                <a:srgbClr val="4C1130"/>
              </a:buClr>
              <a:buSzPts val="2100"/>
              <a:buFont typeface="Roboto Condensed"/>
              <a:buChar char="○"/>
            </a:pPr>
            <a:r>
              <a:rPr lang="en" sz="2100">
                <a:solidFill>
                  <a:srgbClr val="4C1130"/>
                </a:solidFill>
                <a:latin typeface="Roboto Condensed"/>
                <a:ea typeface="Roboto Condensed"/>
                <a:cs typeface="Roboto Condensed"/>
                <a:sym typeface="Roboto Condensed"/>
              </a:rPr>
              <a:t>Check for Understanding</a:t>
            </a:r>
            <a:endParaRPr sz="2100">
              <a:solidFill>
                <a:srgbClr val="4C1130"/>
              </a:solidFill>
              <a:latin typeface="Roboto Condensed"/>
              <a:ea typeface="Roboto Condensed"/>
              <a:cs typeface="Roboto Condensed"/>
              <a:sym typeface="Roboto Condensed"/>
            </a:endParaRPr>
          </a:p>
          <a:p>
            <a:pPr indent="0" lvl="0" marL="228600" rtl="0" algn="l">
              <a:spcBef>
                <a:spcPts val="0"/>
              </a:spcBef>
              <a:spcAft>
                <a:spcPts val="0"/>
              </a:spcAft>
              <a:buNone/>
            </a:pPr>
            <a:r>
              <a:t/>
            </a:r>
            <a:endParaRPr sz="2100">
              <a:solidFill>
                <a:srgbClr val="4C1130"/>
              </a:solidFill>
              <a:latin typeface="Roboto Condensed"/>
              <a:ea typeface="Roboto Condensed"/>
              <a:cs typeface="Roboto Condensed"/>
              <a:sym typeface="Roboto Condensed"/>
            </a:endParaRPr>
          </a:p>
          <a:p>
            <a:pPr indent="0" lvl="0" marL="228600" rtl="0" algn="l">
              <a:spcBef>
                <a:spcPts val="0"/>
              </a:spcBef>
              <a:spcAft>
                <a:spcPts val="0"/>
              </a:spcAft>
              <a:buNone/>
            </a:pPr>
            <a:r>
              <a:t/>
            </a:r>
            <a:endParaRPr sz="2100">
              <a:solidFill>
                <a:srgbClr val="4C1130"/>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900">
              <a:solidFill>
                <a:schemeClr val="dk1"/>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900">
              <a:solidFill>
                <a:schemeClr val="dk1"/>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2300">
              <a:solidFill>
                <a:srgbClr val="0B5394"/>
              </a:solidFill>
              <a:latin typeface="Roboto Condensed"/>
              <a:ea typeface="Roboto Condensed"/>
              <a:cs typeface="Roboto Condensed"/>
              <a:sym typeface="Roboto Condensed"/>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p:txBody>
      </p:sp>
      <p:sp>
        <p:nvSpPr>
          <p:cNvPr id="63" name="Google Shape;63;p14"/>
          <p:cNvSpPr txBox="1"/>
          <p:nvPr/>
        </p:nvSpPr>
        <p:spPr>
          <a:xfrm>
            <a:off x="4448825" y="1790225"/>
            <a:ext cx="1549500" cy="256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900">
                <a:solidFill>
                  <a:srgbClr val="073763"/>
                </a:solidFill>
                <a:latin typeface="Roboto Condensed"/>
                <a:ea typeface="Roboto Condensed"/>
                <a:cs typeface="Roboto Condensed"/>
                <a:sym typeface="Roboto Condensed"/>
              </a:rPr>
              <a:t>None</a:t>
            </a:r>
            <a:endParaRPr sz="1900">
              <a:solidFill>
                <a:srgbClr val="073763"/>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900">
              <a:solidFill>
                <a:srgbClr val="073763"/>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900">
              <a:solidFill>
                <a:srgbClr val="073763"/>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2000">
              <a:solidFill>
                <a:srgbClr val="073763"/>
              </a:solidFill>
              <a:latin typeface="Roboto Condensed"/>
              <a:ea typeface="Roboto Condensed"/>
              <a:cs typeface="Roboto Condensed"/>
              <a:sym typeface="Roboto Condensed"/>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p:txBody>
      </p:sp>
      <p:sp>
        <p:nvSpPr>
          <p:cNvPr id="64" name="Google Shape;64;p14"/>
          <p:cNvSpPr txBox="1"/>
          <p:nvPr/>
        </p:nvSpPr>
        <p:spPr>
          <a:xfrm>
            <a:off x="6440675" y="1594725"/>
            <a:ext cx="2098500" cy="855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 sz="1000">
                <a:solidFill>
                  <a:srgbClr val="073763"/>
                </a:solidFill>
                <a:latin typeface="Roboto Condensed"/>
                <a:ea typeface="Roboto Condensed"/>
                <a:cs typeface="Roboto Condensed"/>
                <a:sym typeface="Roboto Condensed"/>
              </a:rPr>
              <a:t>Reconstruction aimed to change the South by promoting political and social reforms, but many white Southerners resisted through black codes and other laws that limited the freedom of African-Americans. This period showed the struggle between the government's push for equality and the efforts to keep old systems of control in place after the Civil War.</a:t>
            </a:r>
            <a:endParaRPr sz="1000">
              <a:solidFill>
                <a:srgbClr val="073763"/>
              </a:solidFill>
              <a:latin typeface="Roboto Condensed"/>
              <a:ea typeface="Roboto Condensed"/>
              <a:cs typeface="Roboto Condensed"/>
              <a:sym typeface="Roboto Condensed"/>
            </a:endParaRPr>
          </a:p>
        </p:txBody>
      </p:sp>
      <p:sp>
        <p:nvSpPr>
          <p:cNvPr id="65" name="Google Shape;65;p14"/>
          <p:cNvSpPr txBox="1"/>
          <p:nvPr/>
        </p:nvSpPr>
        <p:spPr>
          <a:xfrm>
            <a:off x="6715175" y="3273825"/>
            <a:ext cx="1549500" cy="10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073763"/>
                </a:solidFill>
                <a:latin typeface="Roboto Condensed"/>
                <a:ea typeface="Roboto Condensed"/>
                <a:cs typeface="Roboto Condensed"/>
                <a:sym typeface="Roboto Condensed"/>
              </a:rPr>
              <a:t>Test on Civil War Tuesday!</a:t>
            </a:r>
            <a:endParaRPr sz="2000">
              <a:solidFill>
                <a:srgbClr val="073763"/>
              </a:solidFill>
              <a:latin typeface="Roboto Condensed"/>
              <a:ea typeface="Roboto Condensed"/>
              <a:cs typeface="Roboto Condensed"/>
              <a:sym typeface="Roboto Condensed"/>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a:p>
            <a:pPr indent="0" lvl="0" marL="0" rtl="0" algn="l">
              <a:spcBef>
                <a:spcPts val="0"/>
              </a:spcBef>
              <a:spcAft>
                <a:spcPts val="0"/>
              </a:spcAft>
              <a:buNone/>
            </a:pPr>
            <a:r>
              <a:t/>
            </a:r>
            <a:endParaRPr sz="900">
              <a:solidFill>
                <a:srgbClr val="FFFFFF"/>
              </a:solidFill>
              <a:latin typeface="Ubuntu Light"/>
              <a:ea typeface="Ubuntu Light"/>
              <a:cs typeface="Ubuntu Light"/>
              <a:sym typeface="Ubuntu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71" name="Google Shape;71;p15"/>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281350" y="271300"/>
            <a:ext cx="48819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HOPES AND DREAMS</a:t>
            </a:r>
            <a:endParaRPr b="1" sz="3400">
              <a:solidFill>
                <a:schemeClr val="lt1"/>
              </a:solidFill>
              <a:latin typeface="Roboto Condensed"/>
              <a:ea typeface="Roboto Condensed"/>
              <a:cs typeface="Roboto Condensed"/>
              <a:sym typeface="Roboto Condensed"/>
            </a:endParaRPr>
          </a:p>
        </p:txBody>
      </p:sp>
      <p:pic>
        <p:nvPicPr>
          <p:cNvPr descr="Be Woke Presents Black History in Two Minutes (or so)&#10;https://blackhistoryintwominutes.com&#10;&#10;As the Union declared victory over the Confederacy, post-Civil War life seemed to be off to a good start for freed slaves. William Tecumseh Sherman, a former Union general, sat with 20 black ministers to develop a plan to remedy the harsh treatment of black people.&#10;&#10;The phrase “40 acres and a mule” — a promise to former slaves — would be hatched from this meeting. Unfortunately, President Andrew Johnson would renege on this promise and many families never saw this promise come to fruition. While land ownership would have been a step in the right direction, negotiations robbed black families of an opportunity to invest in an economic future with.&#10;&#10;In this episode of Black History In Two Minutes or So hosted by Henry Louis Gates Jr., with additional commentary from Evelynn Hammonds of Harvard University and Farah Griffin of Columbia University, we uncover the turbulent history of land ownership and the challenges black people faced in America.&#10;&#10;Black History in Two Minutes (or so) is a 2x Webby Award winning series.&#10;&#10;Archival Materials Courtesy of:&#10;Alamy Images&#10;Everett Collection, Inc.&#10;&#10;Getty Images&#10;Library of Congress&#10;&#10;Executive Producers:&#10;Robert F. Smith&#10;Henry Louis Gates Jr.&#10;Dyllan McGee&#10;Deon Taylor&#10;&#10;Music By:&#10;Oovra Music&#10;&#10;Be Woke presents is brought to you by Robert F. Smith and Deon Taylor.&#10;&#10;Follow Black History in Two Minutes on Facebook&#10;https://www.facebook.com/blackhistoryintwominutes/&#10;&#10;Follow Black History in Two Minutes on Instagram&#10;https://www.instagram.com/blackhistoryintwominutes/&#10;&#10;Subscribe to Black History in Two Minutes Youtube Channel&#10;https://www.youtube.com/channel/UCYYNgeK89XFPu-7qUm8edqg&#10;&#10;'Black History in Two Minutes' is also available on Apple and Google podcasts.&#10;&#10;&#10;&#10;Distributed by https://aone.la&#10;&#10;Powered by https://hyperengine.ai" id="73" name="Google Shape;73;p15" title="Land: Giving Rise to the Famous Phrase 40 Acres &amp; a Mule">
            <a:hlinkClick r:id="rId4"/>
          </p:cNvPr>
          <p:cNvPicPr preferRelativeResize="0"/>
          <p:nvPr/>
        </p:nvPicPr>
        <p:blipFill>
          <a:blip r:embed="rId5">
            <a:alphaModFix/>
          </a:blip>
          <a:stretch>
            <a:fillRect/>
          </a:stretch>
        </p:blipFill>
        <p:spPr>
          <a:xfrm>
            <a:off x="4350075" y="1002675"/>
            <a:ext cx="4361700" cy="3271275"/>
          </a:xfrm>
          <a:prstGeom prst="rect">
            <a:avLst/>
          </a:prstGeom>
          <a:noFill/>
          <a:ln>
            <a:noFill/>
          </a:ln>
        </p:spPr>
      </p:pic>
      <p:sp>
        <p:nvSpPr>
          <p:cNvPr id="74" name="Google Shape;74;p15"/>
          <p:cNvSpPr txBox="1"/>
          <p:nvPr/>
        </p:nvSpPr>
        <p:spPr>
          <a:xfrm>
            <a:off x="549925" y="955900"/>
            <a:ext cx="3523200" cy="324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400">
                <a:solidFill>
                  <a:srgbClr val="20124D"/>
                </a:solidFill>
                <a:latin typeface="Roboto Condensed"/>
                <a:ea typeface="Roboto Condensed"/>
                <a:cs typeface="Roboto Condensed"/>
                <a:sym typeface="Roboto Condensed"/>
              </a:rPr>
              <a:t>Reconstruction brought with it hope for African-Americans who finally had freedom to control their own destinies.</a:t>
            </a:r>
            <a:endParaRPr sz="2400">
              <a:solidFill>
                <a:srgbClr val="20124D"/>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t/>
            </a:r>
            <a:endParaRPr b="1" sz="2400">
              <a:solidFill>
                <a:srgbClr val="20124D"/>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b="1" lang="en" sz="2400">
                <a:solidFill>
                  <a:srgbClr val="20124D"/>
                </a:solidFill>
                <a:latin typeface="Roboto Condensed"/>
                <a:ea typeface="Roboto Condensed"/>
                <a:cs typeface="Roboto Condensed"/>
                <a:sym typeface="Roboto Condensed"/>
              </a:rPr>
              <a:t>“40 Acres and a Mule” symbolized it...</a:t>
            </a:r>
            <a:endParaRPr b="1" sz="2400">
              <a:solidFill>
                <a:srgbClr val="20124D"/>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1000"/>
                                        <p:tgtEl>
                                          <p:spTgt spid="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78" name="Shape 78"/>
        <p:cNvGrpSpPr/>
        <p:nvPr/>
      </p:nvGrpSpPr>
      <p:grpSpPr>
        <a:xfrm>
          <a:off x="0" y="0"/>
          <a:ext cx="0" cy="0"/>
          <a:chOff x="0" y="0"/>
          <a:chExt cx="0" cy="0"/>
        </a:xfrm>
      </p:grpSpPr>
      <p:pic>
        <p:nvPicPr>
          <p:cNvPr descr="This is a Pear Deck interactive slide. Students, choose your response." id="79" name="Google Shape;79;p16" title="This is a Pear Deck interactive slide. Students, choose your response.">
            <a:hlinkClick r:id="rId3"/>
          </p:cNvPr>
          <p:cNvPicPr preferRelativeResize="0"/>
          <p:nvPr/>
        </p:nvPicPr>
        <p:blipFill>
          <a:blip r:embed="rId4">
            <a:alphaModFix/>
          </a:blip>
          <a:stretch>
            <a:fillRect/>
          </a:stretch>
        </p:blipFill>
        <p:spPr>
          <a:xfrm>
            <a:off x="0" y="4429125"/>
            <a:ext cx="9144000" cy="714375"/>
          </a:xfrm>
          <a:prstGeom prst="rect">
            <a:avLst/>
          </a:prstGeom>
          <a:noFill/>
          <a:ln>
            <a:noFill/>
          </a:ln>
        </p:spPr>
      </p:pic>
      <p:sp>
        <p:nvSpPr>
          <p:cNvPr id="80" name="Google Shape;80;p16">
            <a:hlinkClick r:id="rId5"/>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6"/>
          <p:cNvSpPr txBox="1"/>
          <p:nvPr/>
        </p:nvSpPr>
        <p:spPr>
          <a:xfrm>
            <a:off x="492300" y="535200"/>
            <a:ext cx="8159400" cy="347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4800">
                <a:solidFill>
                  <a:srgbClr val="FFFFFF"/>
                </a:solidFill>
              </a:rPr>
              <a:t>What did "40 Acres and a Mule" symbolize for newly freed African-Americans during Reconstruction?</a:t>
            </a:r>
            <a:endParaRPr sz="1900">
              <a:solidFill>
                <a:srgbClr val="FFFFFF"/>
              </a:solidFill>
              <a:latin typeface="Roboto Condensed"/>
              <a:ea typeface="Roboto Condensed"/>
              <a:cs typeface="Roboto Condensed"/>
              <a:sym typeface="Roboto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87" name="Google Shape;87;p17"/>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7"/>
          <p:cNvSpPr/>
          <p:nvPr/>
        </p:nvSpPr>
        <p:spPr>
          <a:xfrm>
            <a:off x="281350" y="271300"/>
            <a:ext cx="48819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Roboto Condensed"/>
                <a:ea typeface="Roboto Condensed"/>
                <a:cs typeface="Roboto Condensed"/>
                <a:sym typeface="Roboto Condensed"/>
              </a:rPr>
              <a:t>SWING AROUND THE CIRCLE</a:t>
            </a:r>
            <a:endParaRPr b="1" sz="3000">
              <a:solidFill>
                <a:schemeClr val="lt1"/>
              </a:solidFill>
              <a:latin typeface="Roboto Condensed"/>
              <a:ea typeface="Roboto Condensed"/>
              <a:cs typeface="Roboto Condensed"/>
              <a:sym typeface="Roboto Condensed"/>
            </a:endParaRPr>
          </a:p>
        </p:txBody>
      </p:sp>
      <p:sp>
        <p:nvSpPr>
          <p:cNvPr id="89" name="Google Shape;89;p17"/>
          <p:cNvSpPr txBox="1"/>
          <p:nvPr/>
        </p:nvSpPr>
        <p:spPr>
          <a:xfrm>
            <a:off x="425900" y="809925"/>
            <a:ext cx="4494300" cy="3475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An even more radical republican majority is elected to congress in 1866</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Johnson goes on a speaking tour to try to convince voters and congressmen to be more moderate</a:t>
            </a:r>
            <a:endParaRPr sz="2100">
              <a:solidFill>
                <a:srgbClr val="20124D"/>
              </a:solidFill>
              <a:latin typeface="Roboto Condensed"/>
              <a:ea typeface="Roboto Condensed"/>
              <a:cs typeface="Roboto Condensed"/>
              <a:sym typeface="Roboto Condensed"/>
            </a:endParaRPr>
          </a:p>
          <a:p>
            <a:pPr indent="-361950" lvl="1" marL="9144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Ended up getting in fights and convincing no one</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By 1867, no party would claim him as their own...</a:t>
            </a:r>
            <a:endParaRPr sz="21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900">
              <a:solidFill>
                <a:srgbClr val="FFFFFF"/>
              </a:solidFill>
              <a:latin typeface="Roboto Condensed"/>
              <a:ea typeface="Roboto Condensed"/>
              <a:cs typeface="Roboto Condensed"/>
              <a:sym typeface="Roboto Condensed"/>
            </a:endParaRPr>
          </a:p>
        </p:txBody>
      </p:sp>
      <p:pic>
        <p:nvPicPr>
          <p:cNvPr id="90" name="Google Shape;90;p17"/>
          <p:cNvPicPr preferRelativeResize="0"/>
          <p:nvPr/>
        </p:nvPicPr>
        <p:blipFill>
          <a:blip r:embed="rId4">
            <a:alphaModFix/>
          </a:blip>
          <a:stretch>
            <a:fillRect/>
          </a:stretch>
        </p:blipFill>
        <p:spPr>
          <a:xfrm>
            <a:off x="5504150" y="640875"/>
            <a:ext cx="3036651" cy="1518325"/>
          </a:xfrm>
          <a:prstGeom prst="rect">
            <a:avLst/>
          </a:prstGeom>
          <a:noFill/>
          <a:ln>
            <a:noFill/>
          </a:ln>
        </p:spPr>
      </p:pic>
      <p:pic>
        <p:nvPicPr>
          <p:cNvPr id="91" name="Google Shape;91;p17"/>
          <p:cNvPicPr preferRelativeResize="0"/>
          <p:nvPr/>
        </p:nvPicPr>
        <p:blipFill>
          <a:blip r:embed="rId5">
            <a:alphaModFix/>
          </a:blip>
          <a:stretch>
            <a:fillRect/>
          </a:stretch>
        </p:blipFill>
        <p:spPr>
          <a:xfrm>
            <a:off x="5343200" y="2750500"/>
            <a:ext cx="3197599" cy="174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8"/>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97" name="Google Shape;97;p18"/>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p:nvPr/>
        </p:nvSpPr>
        <p:spPr>
          <a:xfrm>
            <a:off x="281350" y="271300"/>
            <a:ext cx="66612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CONGRESSIONAL RECONSTRUCTION</a:t>
            </a:r>
            <a:endParaRPr b="1" sz="3400">
              <a:solidFill>
                <a:schemeClr val="lt1"/>
              </a:solidFill>
              <a:latin typeface="Roboto Condensed"/>
              <a:ea typeface="Roboto Condensed"/>
              <a:cs typeface="Roboto Condensed"/>
              <a:sym typeface="Roboto Condensed"/>
            </a:endParaRPr>
          </a:p>
        </p:txBody>
      </p:sp>
      <p:sp>
        <p:nvSpPr>
          <p:cNvPr id="99" name="Google Shape;99;p18"/>
          <p:cNvSpPr txBox="1"/>
          <p:nvPr/>
        </p:nvSpPr>
        <p:spPr>
          <a:xfrm>
            <a:off x="371575" y="755600"/>
            <a:ext cx="4717800" cy="34752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20124D"/>
              </a:buClr>
              <a:buSzPts val="2000"/>
              <a:buFont typeface="Roboto Condensed"/>
              <a:buChar char="■"/>
            </a:pPr>
            <a:r>
              <a:rPr b="1" lang="en" sz="2000" u="sng">
                <a:solidFill>
                  <a:srgbClr val="20124D"/>
                </a:solidFill>
                <a:latin typeface="Roboto Condensed"/>
                <a:ea typeface="Roboto Condensed"/>
                <a:cs typeface="Roboto Condensed"/>
                <a:sym typeface="Roboto Condensed"/>
              </a:rPr>
              <a:t>Reconstruction Act of 1867</a:t>
            </a:r>
            <a:r>
              <a:rPr lang="en" sz="2000">
                <a:solidFill>
                  <a:srgbClr val="20124D"/>
                </a:solidFill>
                <a:latin typeface="Roboto Condensed"/>
                <a:ea typeface="Roboto Condensed"/>
                <a:cs typeface="Roboto Condensed"/>
                <a:sym typeface="Roboto Condensed"/>
              </a:rPr>
              <a:t>= creates 7 </a:t>
            </a:r>
            <a:r>
              <a:rPr lang="en" sz="2000">
                <a:solidFill>
                  <a:srgbClr val="20124D"/>
                </a:solidFill>
                <a:latin typeface="Roboto Condensed"/>
                <a:ea typeface="Roboto Condensed"/>
                <a:cs typeface="Roboto Condensed"/>
                <a:sym typeface="Roboto Condensed"/>
              </a:rPr>
              <a:t>military zones for south under martial law</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Black males could enroll to vote</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No ex-confederate could vote or hold office</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Required 14th Amendment to be in new constitutions for states to have representation</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Johnson and southerners did as little as possible to enforce all of this</a:t>
            </a:r>
            <a:endParaRPr sz="2000">
              <a:solidFill>
                <a:srgbClr val="20124D"/>
              </a:solidFill>
              <a:latin typeface="Roboto Condensed"/>
              <a:ea typeface="Roboto Condensed"/>
              <a:cs typeface="Roboto Condensed"/>
              <a:sym typeface="Roboto Condensed"/>
            </a:endParaRPr>
          </a:p>
          <a:p>
            <a:pPr indent="0" lvl="0" marL="0" rtl="0" algn="l">
              <a:lnSpc>
                <a:spcPct val="115000"/>
              </a:lnSpc>
              <a:spcBef>
                <a:spcPts val="0"/>
              </a:spcBef>
              <a:spcAft>
                <a:spcPts val="0"/>
              </a:spcAft>
              <a:buNone/>
            </a:pPr>
            <a:r>
              <a:t/>
            </a:r>
            <a:endParaRPr sz="1800">
              <a:solidFill>
                <a:srgbClr val="FFFFFF"/>
              </a:solidFill>
              <a:latin typeface="Roboto Condensed"/>
              <a:ea typeface="Roboto Condensed"/>
              <a:cs typeface="Roboto Condensed"/>
              <a:sym typeface="Roboto Condensed"/>
            </a:endParaRPr>
          </a:p>
        </p:txBody>
      </p:sp>
      <p:pic>
        <p:nvPicPr>
          <p:cNvPr id="100" name="Google Shape;100;p18"/>
          <p:cNvPicPr preferRelativeResize="0"/>
          <p:nvPr/>
        </p:nvPicPr>
        <p:blipFill>
          <a:blip r:embed="rId4">
            <a:alphaModFix/>
          </a:blip>
          <a:stretch>
            <a:fillRect/>
          </a:stretch>
        </p:blipFill>
        <p:spPr>
          <a:xfrm>
            <a:off x="5629300" y="2647500"/>
            <a:ext cx="2729801" cy="2047351"/>
          </a:xfrm>
          <a:prstGeom prst="rect">
            <a:avLst/>
          </a:prstGeom>
          <a:noFill/>
          <a:ln>
            <a:noFill/>
          </a:ln>
        </p:spPr>
      </p:pic>
      <p:pic>
        <p:nvPicPr>
          <p:cNvPr id="101" name="Google Shape;101;p18"/>
          <p:cNvPicPr preferRelativeResize="0"/>
          <p:nvPr/>
        </p:nvPicPr>
        <p:blipFill>
          <a:blip r:embed="rId5">
            <a:alphaModFix/>
          </a:blip>
          <a:stretch>
            <a:fillRect/>
          </a:stretch>
        </p:blipFill>
        <p:spPr>
          <a:xfrm>
            <a:off x="5699575" y="903650"/>
            <a:ext cx="2589249" cy="14564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105" name="Shape 105"/>
        <p:cNvGrpSpPr/>
        <p:nvPr/>
      </p:nvGrpSpPr>
      <p:grpSpPr>
        <a:xfrm>
          <a:off x="0" y="0"/>
          <a:ext cx="0" cy="0"/>
          <a:chOff x="0" y="0"/>
          <a:chExt cx="0" cy="0"/>
        </a:xfrm>
      </p:grpSpPr>
      <p:sp>
        <p:nvSpPr>
          <p:cNvPr id="106" name="Google Shape;106;p19"/>
          <p:cNvSpPr txBox="1"/>
          <p:nvPr/>
        </p:nvSpPr>
        <p:spPr>
          <a:xfrm>
            <a:off x="492300" y="834150"/>
            <a:ext cx="8238000" cy="347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4100">
                <a:solidFill>
                  <a:srgbClr val="FFFFFF"/>
                </a:solidFill>
              </a:rPr>
              <a:t>How did Congressional Reconstruction under the Radical Republicans differ from Lincoln's and Johnson's plans?</a:t>
            </a:r>
            <a:endParaRPr b="1" sz="4100">
              <a:solidFill>
                <a:srgbClr val="FFFFFF"/>
              </a:solidFill>
            </a:endParaRPr>
          </a:p>
          <a:p>
            <a:pPr indent="0" lvl="0" marL="0" rtl="0" algn="l">
              <a:lnSpc>
                <a:spcPct val="115000"/>
              </a:lnSpc>
              <a:spcBef>
                <a:spcPts val="1200"/>
              </a:spcBef>
              <a:spcAft>
                <a:spcPts val="1200"/>
              </a:spcAft>
              <a:buNone/>
            </a:pPr>
            <a:r>
              <a:t/>
            </a:r>
            <a:endParaRPr b="1" sz="4800">
              <a:solidFill>
                <a:srgbClr val="FFFFFF"/>
              </a:solidFill>
            </a:endParaRPr>
          </a:p>
        </p:txBody>
      </p:sp>
      <p:pic>
        <p:nvPicPr>
          <p:cNvPr descr="This is a Pear Deck interactive slide. Students, choose your response." id="107" name="Google Shape;107;p19" title="This is a Pear Deck interactive slide. Students, choose your response.">
            <a:hlinkClick r:id="rId3"/>
          </p:cNvPr>
          <p:cNvPicPr preferRelativeResize="0"/>
          <p:nvPr/>
        </p:nvPicPr>
        <p:blipFill>
          <a:blip r:embed="rId4">
            <a:alphaModFix/>
          </a:blip>
          <a:stretch>
            <a:fillRect/>
          </a:stretch>
        </p:blipFill>
        <p:spPr>
          <a:xfrm>
            <a:off x="0" y="4429125"/>
            <a:ext cx="9144000" cy="714375"/>
          </a:xfrm>
          <a:prstGeom prst="rect">
            <a:avLst/>
          </a:prstGeom>
          <a:noFill/>
          <a:ln>
            <a:noFill/>
          </a:ln>
        </p:spPr>
      </p:pic>
      <p:sp>
        <p:nvSpPr>
          <p:cNvPr id="108" name="Google Shape;108;p19">
            <a:hlinkClick r:id="rId5"/>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0"/>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14" name="Google Shape;114;p20"/>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p:nvPr/>
        </p:nvSpPr>
        <p:spPr>
          <a:xfrm>
            <a:off x="281350" y="271300"/>
            <a:ext cx="48819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JOHNSON IMPEACHED</a:t>
            </a:r>
            <a:endParaRPr b="1" sz="3400">
              <a:solidFill>
                <a:schemeClr val="lt1"/>
              </a:solidFill>
              <a:latin typeface="Roboto Condensed"/>
              <a:ea typeface="Roboto Condensed"/>
              <a:cs typeface="Roboto Condensed"/>
              <a:sym typeface="Roboto Condensed"/>
            </a:endParaRPr>
          </a:p>
        </p:txBody>
      </p:sp>
      <p:sp>
        <p:nvSpPr>
          <p:cNvPr id="116" name="Google Shape;116;p20"/>
          <p:cNvSpPr txBox="1"/>
          <p:nvPr/>
        </p:nvSpPr>
        <p:spPr>
          <a:xfrm>
            <a:off x="425900" y="809925"/>
            <a:ext cx="4494300" cy="3475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rgbClr val="20124D"/>
              </a:buClr>
              <a:buSzPts val="2100"/>
              <a:buFont typeface="Roboto Condensed"/>
              <a:buChar char="■"/>
            </a:pPr>
            <a:r>
              <a:rPr b="1" lang="en" sz="2100">
                <a:solidFill>
                  <a:srgbClr val="20124D"/>
                </a:solidFill>
                <a:latin typeface="Roboto Condensed"/>
                <a:ea typeface="Roboto Condensed"/>
                <a:cs typeface="Roboto Condensed"/>
                <a:sym typeface="Roboto Condensed"/>
              </a:rPr>
              <a:t>Radical Republicans</a:t>
            </a:r>
            <a:r>
              <a:rPr lang="en" sz="2100">
                <a:solidFill>
                  <a:srgbClr val="20124D"/>
                </a:solidFill>
                <a:latin typeface="Roboto Condensed"/>
                <a:ea typeface="Roboto Condensed"/>
                <a:cs typeface="Roboto Condensed"/>
                <a:sym typeface="Roboto Condensed"/>
              </a:rPr>
              <a:t> were over Johnson and his vetoes</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He had actually been removing generals and officials who had been enforcing the laws in the south</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Radicals pass the </a:t>
            </a:r>
            <a:r>
              <a:rPr b="1" lang="en" sz="2100">
                <a:solidFill>
                  <a:srgbClr val="20124D"/>
                </a:solidFill>
                <a:latin typeface="Roboto Condensed"/>
                <a:ea typeface="Roboto Condensed"/>
                <a:cs typeface="Roboto Condensed"/>
                <a:sym typeface="Roboto Condensed"/>
              </a:rPr>
              <a:t>Tenure of Office</a:t>
            </a:r>
            <a:r>
              <a:rPr lang="en" sz="2100">
                <a:solidFill>
                  <a:srgbClr val="20124D"/>
                </a:solidFill>
                <a:latin typeface="Roboto Condensed"/>
                <a:ea typeface="Roboto Condensed"/>
                <a:cs typeface="Roboto Condensed"/>
                <a:sym typeface="Roboto Condensed"/>
              </a:rPr>
              <a:t> Act to prevent him from firing Sec. of War, Ed Stanton, who was last radical in cabinet → Johnson does it anyway</a:t>
            </a:r>
            <a:endParaRPr sz="2100">
              <a:solidFill>
                <a:srgbClr val="20124D"/>
              </a:solidFill>
              <a:latin typeface="Roboto Condensed"/>
              <a:ea typeface="Roboto Condensed"/>
              <a:cs typeface="Roboto Condensed"/>
              <a:sym typeface="Roboto Condensed"/>
            </a:endParaRPr>
          </a:p>
        </p:txBody>
      </p:sp>
      <p:pic>
        <p:nvPicPr>
          <p:cNvPr id="117" name="Google Shape;117;p20"/>
          <p:cNvPicPr preferRelativeResize="0"/>
          <p:nvPr/>
        </p:nvPicPr>
        <p:blipFill>
          <a:blip r:embed="rId4">
            <a:alphaModFix/>
          </a:blip>
          <a:stretch>
            <a:fillRect/>
          </a:stretch>
        </p:blipFill>
        <p:spPr>
          <a:xfrm>
            <a:off x="5262526" y="589300"/>
            <a:ext cx="2027975" cy="2677827"/>
          </a:xfrm>
          <a:prstGeom prst="rect">
            <a:avLst/>
          </a:prstGeom>
          <a:noFill/>
          <a:ln>
            <a:noFill/>
          </a:ln>
        </p:spPr>
      </p:pic>
      <p:pic>
        <p:nvPicPr>
          <p:cNvPr id="118" name="Google Shape;118;p20"/>
          <p:cNvPicPr preferRelativeResize="0"/>
          <p:nvPr/>
        </p:nvPicPr>
        <p:blipFill>
          <a:blip r:embed="rId5">
            <a:alphaModFix/>
          </a:blip>
          <a:stretch>
            <a:fillRect/>
          </a:stretch>
        </p:blipFill>
        <p:spPr>
          <a:xfrm>
            <a:off x="5869773" y="2787125"/>
            <a:ext cx="2443225" cy="1951375"/>
          </a:xfrm>
          <a:prstGeom prst="rect">
            <a:avLst/>
          </a:prstGeom>
          <a:noFill/>
          <a:ln>
            <a:noFill/>
          </a:ln>
        </p:spPr>
      </p:pic>
      <p:pic>
        <p:nvPicPr>
          <p:cNvPr id="119" name="Google Shape;119;p20"/>
          <p:cNvPicPr preferRelativeResize="0"/>
          <p:nvPr/>
        </p:nvPicPr>
        <p:blipFill rotWithShape="1">
          <a:blip r:embed="rId6">
            <a:alphaModFix/>
          </a:blip>
          <a:srcRect b="0" l="17526" r="13174" t="0"/>
          <a:stretch/>
        </p:blipFill>
        <p:spPr>
          <a:xfrm rot="-764096">
            <a:off x="6660307" y="2255175"/>
            <a:ext cx="1368131" cy="1568774"/>
          </a:xfrm>
          <a:prstGeom prst="rect">
            <a:avLst/>
          </a:prstGeom>
          <a:noFill/>
          <a:ln>
            <a:noFill/>
          </a:ln>
        </p:spPr>
      </p:pic>
      <p:pic>
        <p:nvPicPr>
          <p:cNvPr id="120" name="Google Shape;120;p20"/>
          <p:cNvPicPr preferRelativeResize="0"/>
          <p:nvPr/>
        </p:nvPicPr>
        <p:blipFill rotWithShape="1">
          <a:blip r:embed="rId7">
            <a:alphaModFix/>
          </a:blip>
          <a:srcRect b="0" l="9821" r="0" t="0"/>
          <a:stretch/>
        </p:blipFill>
        <p:spPr>
          <a:xfrm>
            <a:off x="6924325" y="839475"/>
            <a:ext cx="1680301" cy="17890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1"/>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26" name="Google Shape;126;p21"/>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p:nvPr/>
        </p:nvSpPr>
        <p:spPr>
          <a:xfrm>
            <a:off x="281350" y="271300"/>
            <a:ext cx="48819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JOHNSON IMPEACHED</a:t>
            </a:r>
            <a:endParaRPr b="1" sz="3400">
              <a:solidFill>
                <a:schemeClr val="lt1"/>
              </a:solidFill>
              <a:latin typeface="Roboto Condensed"/>
              <a:ea typeface="Roboto Condensed"/>
              <a:cs typeface="Roboto Condensed"/>
              <a:sym typeface="Roboto Condensed"/>
            </a:endParaRPr>
          </a:p>
        </p:txBody>
      </p:sp>
      <p:sp>
        <p:nvSpPr>
          <p:cNvPr id="128" name="Google Shape;128;p21"/>
          <p:cNvSpPr txBox="1"/>
          <p:nvPr/>
        </p:nvSpPr>
        <p:spPr>
          <a:xfrm>
            <a:off x="425900" y="903200"/>
            <a:ext cx="4494300" cy="33819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Johnson fires Stanton </a:t>
            </a:r>
            <a:r>
              <a:rPr lang="en" sz="2200">
                <a:solidFill>
                  <a:srgbClr val="20124D"/>
                </a:solidFill>
                <a:latin typeface="Roboto Condensed"/>
                <a:ea typeface="Roboto Condensed"/>
                <a:cs typeface="Roboto Condensed"/>
                <a:sym typeface="Roboto Condensed"/>
              </a:rPr>
              <a:t>anyways</a:t>
            </a:r>
            <a:endParaRPr sz="2200">
              <a:solidFill>
                <a:srgbClr val="20124D"/>
              </a:solidFill>
              <a:latin typeface="Roboto Condensed"/>
              <a:ea typeface="Roboto Condensed"/>
              <a:cs typeface="Roboto Condensed"/>
              <a:sym typeface="Roboto Condensed"/>
            </a:endParaRPr>
          </a:p>
          <a:p>
            <a:pPr indent="-368300" lvl="0" marL="4572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House impeaches Johnson and puts him on trial</a:t>
            </a:r>
            <a:endParaRPr sz="2200">
              <a:solidFill>
                <a:srgbClr val="20124D"/>
              </a:solidFill>
              <a:latin typeface="Roboto Condensed"/>
              <a:ea typeface="Roboto Condensed"/>
              <a:cs typeface="Roboto Condensed"/>
              <a:sym typeface="Roboto Condensed"/>
            </a:endParaRPr>
          </a:p>
          <a:p>
            <a:pPr indent="-368300" lvl="0" marL="4572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Many congressmen believe President can only be removed for criminal acts → this was a political crime</a:t>
            </a:r>
            <a:endParaRPr sz="2200">
              <a:solidFill>
                <a:srgbClr val="20124D"/>
              </a:solidFill>
              <a:latin typeface="Roboto Condensed"/>
              <a:ea typeface="Roboto Condensed"/>
              <a:cs typeface="Roboto Condensed"/>
              <a:sym typeface="Roboto Condensed"/>
            </a:endParaRPr>
          </a:p>
          <a:p>
            <a:pPr indent="-368300" lvl="0" marL="457200" rtl="0" algn="l">
              <a:lnSpc>
                <a:spcPct val="115000"/>
              </a:lnSpc>
              <a:spcBef>
                <a:spcPts val="0"/>
              </a:spcBef>
              <a:spcAft>
                <a:spcPts val="0"/>
              </a:spcAft>
              <a:buClr>
                <a:srgbClr val="20124D"/>
              </a:buClr>
              <a:buSzPts val="2200"/>
              <a:buFont typeface="Roboto Condensed"/>
              <a:buChar char="■"/>
            </a:pPr>
            <a:r>
              <a:rPr lang="en" sz="2200">
                <a:solidFill>
                  <a:srgbClr val="20124D"/>
                </a:solidFill>
                <a:latin typeface="Roboto Condensed"/>
                <a:ea typeface="Roboto Condensed"/>
                <a:cs typeface="Roboto Condensed"/>
                <a:sym typeface="Roboto Condensed"/>
              </a:rPr>
              <a:t>Radicals fall 1 vote shy of removing Johnson from office</a:t>
            </a:r>
            <a:endParaRPr sz="2200">
              <a:solidFill>
                <a:srgbClr val="20124D"/>
              </a:solidFill>
              <a:latin typeface="Roboto Condensed"/>
              <a:ea typeface="Roboto Condensed"/>
              <a:cs typeface="Roboto Condensed"/>
              <a:sym typeface="Roboto Condensed"/>
            </a:endParaRPr>
          </a:p>
        </p:txBody>
      </p:sp>
      <p:pic>
        <p:nvPicPr>
          <p:cNvPr id="129" name="Google Shape;129;p21"/>
          <p:cNvPicPr preferRelativeResize="0"/>
          <p:nvPr/>
        </p:nvPicPr>
        <p:blipFill rotWithShape="1">
          <a:blip r:embed="rId4">
            <a:alphaModFix/>
          </a:blip>
          <a:srcRect b="0" l="0" r="11324" t="0"/>
          <a:stretch/>
        </p:blipFill>
        <p:spPr>
          <a:xfrm>
            <a:off x="5454512" y="637000"/>
            <a:ext cx="3228201" cy="1409550"/>
          </a:xfrm>
          <a:prstGeom prst="rect">
            <a:avLst/>
          </a:prstGeom>
          <a:noFill/>
          <a:ln>
            <a:noFill/>
          </a:ln>
        </p:spPr>
      </p:pic>
      <p:pic>
        <p:nvPicPr>
          <p:cNvPr id="130" name="Google Shape;130;p21"/>
          <p:cNvPicPr preferRelativeResize="0"/>
          <p:nvPr/>
        </p:nvPicPr>
        <p:blipFill>
          <a:blip r:embed="rId5">
            <a:alphaModFix/>
          </a:blip>
          <a:stretch>
            <a:fillRect/>
          </a:stretch>
        </p:blipFill>
        <p:spPr>
          <a:xfrm>
            <a:off x="5498275" y="2792775"/>
            <a:ext cx="3140676" cy="1766625"/>
          </a:xfrm>
          <a:prstGeom prst="rect">
            <a:avLst/>
          </a:prstGeom>
          <a:noFill/>
          <a:ln>
            <a:noFill/>
          </a:ln>
        </p:spPr>
      </p:pic>
      <p:pic>
        <p:nvPicPr>
          <p:cNvPr id="131" name="Google Shape;131;p21"/>
          <p:cNvPicPr preferRelativeResize="0"/>
          <p:nvPr/>
        </p:nvPicPr>
        <p:blipFill>
          <a:blip r:embed="rId6">
            <a:alphaModFix/>
          </a:blip>
          <a:stretch>
            <a:fillRect/>
          </a:stretch>
        </p:blipFill>
        <p:spPr>
          <a:xfrm>
            <a:off x="5989988" y="1785450"/>
            <a:ext cx="2157275" cy="1087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135" name="Shape 135"/>
        <p:cNvGrpSpPr/>
        <p:nvPr/>
      </p:nvGrpSpPr>
      <p:grpSpPr>
        <a:xfrm>
          <a:off x="0" y="0"/>
          <a:ext cx="0" cy="0"/>
          <a:chOff x="0" y="0"/>
          <a:chExt cx="0" cy="0"/>
        </a:xfrm>
      </p:grpSpPr>
      <p:sp>
        <p:nvSpPr>
          <p:cNvPr id="136" name="Google Shape;136;p22"/>
          <p:cNvSpPr txBox="1"/>
          <p:nvPr/>
        </p:nvSpPr>
        <p:spPr>
          <a:xfrm>
            <a:off x="492300" y="834150"/>
            <a:ext cx="8238000" cy="347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4100">
                <a:solidFill>
                  <a:srgbClr val="FFFFFF"/>
                </a:solidFill>
              </a:rPr>
              <a:t>What was the main reason why President Andrew Johnson was impeached?</a:t>
            </a:r>
            <a:endParaRPr b="1" sz="4800">
              <a:solidFill>
                <a:srgbClr val="FFFFFF"/>
              </a:solidFill>
            </a:endParaRPr>
          </a:p>
        </p:txBody>
      </p:sp>
      <p:pic>
        <p:nvPicPr>
          <p:cNvPr descr="This is a Pear Deck interactive slide. Students, choose your response." id="137" name="Google Shape;137;p22" title="This is a Pear Deck interactive slide. Students, choose your response.">
            <a:hlinkClick r:id="rId3"/>
          </p:cNvPr>
          <p:cNvPicPr preferRelativeResize="0"/>
          <p:nvPr/>
        </p:nvPicPr>
        <p:blipFill>
          <a:blip r:embed="rId4">
            <a:alphaModFix/>
          </a:blip>
          <a:stretch>
            <a:fillRect/>
          </a:stretch>
        </p:blipFill>
        <p:spPr>
          <a:xfrm>
            <a:off x="0" y="4429125"/>
            <a:ext cx="9144000" cy="714375"/>
          </a:xfrm>
          <a:prstGeom prst="rect">
            <a:avLst/>
          </a:prstGeom>
          <a:noFill/>
          <a:ln>
            <a:noFill/>
          </a:ln>
        </p:spPr>
      </p:pic>
      <p:sp>
        <p:nvSpPr>
          <p:cNvPr id="138" name="Google Shape;138;p22">
            <a:hlinkClick r:id="rId5"/>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3"/>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44" name="Google Shape;144;p23"/>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3"/>
          <p:cNvSpPr/>
          <p:nvPr/>
        </p:nvSpPr>
        <p:spPr>
          <a:xfrm>
            <a:off x="281350" y="271300"/>
            <a:ext cx="60696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WHITE REPUBLICANS IN SOUTH</a:t>
            </a:r>
            <a:endParaRPr b="1" sz="3400">
              <a:solidFill>
                <a:schemeClr val="lt1"/>
              </a:solidFill>
              <a:latin typeface="Roboto Condensed"/>
              <a:ea typeface="Roboto Condensed"/>
              <a:cs typeface="Roboto Condensed"/>
              <a:sym typeface="Roboto Condensed"/>
            </a:endParaRPr>
          </a:p>
        </p:txBody>
      </p:sp>
      <p:sp>
        <p:nvSpPr>
          <p:cNvPr id="146" name="Google Shape;146;p23"/>
          <p:cNvSpPr txBox="1"/>
          <p:nvPr/>
        </p:nvSpPr>
        <p:spPr>
          <a:xfrm>
            <a:off x="425900" y="836850"/>
            <a:ext cx="4693500" cy="3448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rgbClr val="20124D"/>
              </a:buClr>
              <a:buSzPts val="2100"/>
              <a:buFont typeface="Roboto Condensed"/>
              <a:buChar char="■"/>
            </a:pPr>
            <a:r>
              <a:rPr b="1" lang="en" sz="2100" u="sng">
                <a:solidFill>
                  <a:srgbClr val="20124D"/>
                </a:solidFill>
                <a:latin typeface="Roboto Condensed"/>
                <a:ea typeface="Roboto Condensed"/>
                <a:cs typeface="Roboto Condensed"/>
                <a:sym typeface="Roboto Condensed"/>
              </a:rPr>
              <a:t>Scalawags</a:t>
            </a:r>
            <a:r>
              <a:rPr lang="en" sz="2100">
                <a:solidFill>
                  <a:srgbClr val="20124D"/>
                </a:solidFill>
                <a:latin typeface="Roboto Condensed"/>
                <a:ea typeface="Roboto Condensed"/>
                <a:cs typeface="Roboto Condensed"/>
                <a:sym typeface="Roboto Condensed"/>
              </a:rPr>
              <a:t>= white southerners who vote for </a:t>
            </a:r>
            <a:r>
              <a:rPr lang="en" sz="2100">
                <a:solidFill>
                  <a:srgbClr val="20124D"/>
                </a:solidFill>
                <a:latin typeface="Roboto Condensed"/>
                <a:ea typeface="Roboto Condensed"/>
                <a:cs typeface="Roboto Condensed"/>
                <a:sym typeface="Roboto Condensed"/>
              </a:rPr>
              <a:t>republicans</a:t>
            </a:r>
            <a:r>
              <a:rPr lang="en" sz="2100">
                <a:solidFill>
                  <a:srgbClr val="20124D"/>
                </a:solidFill>
                <a:latin typeface="Roboto Condensed"/>
                <a:ea typeface="Roboto Condensed"/>
                <a:cs typeface="Roboto Condensed"/>
                <a:sym typeface="Roboto Condensed"/>
              </a:rPr>
              <a:t> b/c of promises of economic growth and education for </a:t>
            </a:r>
            <a:r>
              <a:rPr lang="en" sz="2100">
                <a:solidFill>
                  <a:srgbClr val="20124D"/>
                </a:solidFill>
                <a:latin typeface="Roboto Condensed"/>
                <a:ea typeface="Roboto Condensed"/>
                <a:cs typeface="Roboto Condensed"/>
                <a:sym typeface="Roboto Condensed"/>
              </a:rPr>
              <a:t>all</a:t>
            </a:r>
            <a:endParaRPr sz="2100">
              <a:solidFill>
                <a:srgbClr val="20124D"/>
              </a:solidFill>
              <a:latin typeface="Roboto Condensed"/>
              <a:ea typeface="Roboto Condensed"/>
              <a:cs typeface="Roboto Condensed"/>
              <a:sym typeface="Roboto Condensed"/>
            </a:endParaRPr>
          </a:p>
          <a:p>
            <a:pPr indent="-361950" lvl="1" marL="9144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Still cared about racism though</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b="1" lang="en" sz="2100" u="sng">
                <a:solidFill>
                  <a:srgbClr val="20124D"/>
                </a:solidFill>
                <a:latin typeface="Roboto Condensed"/>
                <a:ea typeface="Roboto Condensed"/>
                <a:cs typeface="Roboto Condensed"/>
                <a:sym typeface="Roboto Condensed"/>
              </a:rPr>
              <a:t>Carpetbaggers</a:t>
            </a:r>
            <a:r>
              <a:rPr lang="en" sz="2100">
                <a:solidFill>
                  <a:srgbClr val="20124D"/>
                </a:solidFill>
                <a:latin typeface="Roboto Condensed"/>
                <a:ea typeface="Roboto Condensed"/>
                <a:cs typeface="Roboto Condensed"/>
                <a:sym typeface="Roboto Condensed"/>
              </a:rPr>
              <a:t>= northerners who moved south during Reconstruction</a:t>
            </a:r>
            <a:endParaRPr sz="2100">
              <a:solidFill>
                <a:srgbClr val="20124D"/>
              </a:solidFill>
              <a:latin typeface="Roboto Condensed"/>
              <a:ea typeface="Roboto Condensed"/>
              <a:cs typeface="Roboto Condensed"/>
              <a:sym typeface="Roboto Condensed"/>
            </a:endParaRPr>
          </a:p>
          <a:p>
            <a:pPr indent="-361950" lvl="1" marL="9144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Accused of coming to take advantage of wrecked economy</a:t>
            </a:r>
            <a:endParaRPr sz="2100">
              <a:solidFill>
                <a:srgbClr val="20124D"/>
              </a:solidFill>
              <a:latin typeface="Roboto Condensed"/>
              <a:ea typeface="Roboto Condensed"/>
              <a:cs typeface="Roboto Condensed"/>
              <a:sym typeface="Roboto Condensed"/>
            </a:endParaRPr>
          </a:p>
          <a:p>
            <a:pPr indent="-361950" lvl="1" marL="9144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Held ⅓ of all offices</a:t>
            </a:r>
            <a:endParaRPr sz="2100">
              <a:solidFill>
                <a:srgbClr val="20124D"/>
              </a:solidFill>
              <a:latin typeface="Roboto Condensed"/>
              <a:ea typeface="Roboto Condensed"/>
              <a:cs typeface="Roboto Condensed"/>
              <a:sym typeface="Roboto Condensed"/>
            </a:endParaRPr>
          </a:p>
        </p:txBody>
      </p:sp>
      <p:pic>
        <p:nvPicPr>
          <p:cNvPr id="147" name="Google Shape;147;p23"/>
          <p:cNvPicPr preferRelativeResize="0"/>
          <p:nvPr/>
        </p:nvPicPr>
        <p:blipFill rotWithShape="1">
          <a:blip r:embed="rId4">
            <a:alphaModFix/>
          </a:blip>
          <a:srcRect b="0" l="6068" r="5082" t="0"/>
          <a:stretch/>
        </p:blipFill>
        <p:spPr>
          <a:xfrm>
            <a:off x="6085275" y="1916225"/>
            <a:ext cx="2469451" cy="2779351"/>
          </a:xfrm>
          <a:prstGeom prst="rect">
            <a:avLst/>
          </a:prstGeom>
          <a:noFill/>
          <a:ln>
            <a:noFill/>
          </a:ln>
        </p:spPr>
      </p:pic>
      <p:pic>
        <p:nvPicPr>
          <p:cNvPr id="148" name="Google Shape;148;p23"/>
          <p:cNvPicPr preferRelativeResize="0"/>
          <p:nvPr/>
        </p:nvPicPr>
        <p:blipFill rotWithShape="1">
          <a:blip r:embed="rId5">
            <a:alphaModFix/>
          </a:blip>
          <a:srcRect b="18821" l="0" r="0" t="16236"/>
          <a:stretch/>
        </p:blipFill>
        <p:spPr>
          <a:xfrm>
            <a:off x="6499250" y="413000"/>
            <a:ext cx="1972476" cy="12810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152" name="Shape 152"/>
        <p:cNvGrpSpPr/>
        <p:nvPr/>
      </p:nvGrpSpPr>
      <p:grpSpPr>
        <a:xfrm>
          <a:off x="0" y="0"/>
          <a:ext cx="0" cy="0"/>
          <a:chOff x="0" y="0"/>
          <a:chExt cx="0" cy="0"/>
        </a:xfrm>
      </p:grpSpPr>
      <p:sp>
        <p:nvSpPr>
          <p:cNvPr id="153" name="Google Shape;153;p24"/>
          <p:cNvSpPr txBox="1"/>
          <p:nvPr/>
        </p:nvSpPr>
        <p:spPr>
          <a:xfrm>
            <a:off x="492300" y="834150"/>
            <a:ext cx="8238000" cy="347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4100">
                <a:solidFill>
                  <a:srgbClr val="FFFFFF"/>
                </a:solidFill>
              </a:rPr>
              <a:t>Who were the "Carpetbaggers" during Reconstruction?</a:t>
            </a:r>
            <a:endParaRPr b="1" sz="4100">
              <a:solidFill>
                <a:srgbClr val="FFFFFF"/>
              </a:solidFill>
            </a:endParaRPr>
          </a:p>
        </p:txBody>
      </p:sp>
      <p:pic>
        <p:nvPicPr>
          <p:cNvPr descr="This is a Pear Deck interactive slide. Students, choose your response." id="154" name="Google Shape;154;p24" title="This is a Pear Deck interactive slide. Students, choose your response.">
            <a:hlinkClick r:id="rId3"/>
          </p:cNvPr>
          <p:cNvPicPr preferRelativeResize="0"/>
          <p:nvPr/>
        </p:nvPicPr>
        <p:blipFill>
          <a:blip r:embed="rId4">
            <a:alphaModFix/>
          </a:blip>
          <a:stretch>
            <a:fillRect/>
          </a:stretch>
        </p:blipFill>
        <p:spPr>
          <a:xfrm>
            <a:off x="0" y="4429125"/>
            <a:ext cx="9144000" cy="714375"/>
          </a:xfrm>
          <a:prstGeom prst="rect">
            <a:avLst/>
          </a:prstGeom>
          <a:noFill/>
          <a:ln>
            <a:noFill/>
          </a:ln>
        </p:spPr>
      </p:pic>
      <p:sp>
        <p:nvSpPr>
          <p:cNvPr id="155" name="Google Shape;155;p24">
            <a:hlinkClick r:id="rId5"/>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5"/>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61" name="Google Shape;161;p25"/>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5"/>
          <p:cNvSpPr/>
          <p:nvPr/>
        </p:nvSpPr>
        <p:spPr>
          <a:xfrm>
            <a:off x="281350" y="271300"/>
            <a:ext cx="60696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AFRICAN-AMERICANS IN GOVT</a:t>
            </a:r>
            <a:endParaRPr b="1" sz="3400">
              <a:solidFill>
                <a:schemeClr val="lt1"/>
              </a:solidFill>
              <a:latin typeface="Roboto Condensed"/>
              <a:ea typeface="Roboto Condensed"/>
              <a:cs typeface="Roboto Condensed"/>
              <a:sym typeface="Roboto Condensed"/>
            </a:endParaRPr>
          </a:p>
        </p:txBody>
      </p:sp>
      <p:sp>
        <p:nvSpPr>
          <p:cNvPr id="163" name="Google Shape;163;p25"/>
          <p:cNvSpPr txBox="1"/>
          <p:nvPr/>
        </p:nvSpPr>
        <p:spPr>
          <a:xfrm>
            <a:off x="425900" y="836850"/>
            <a:ext cx="4693500" cy="3448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rgbClr val="20124D"/>
              </a:buClr>
              <a:buSzPts val="2100"/>
              <a:buFont typeface="Roboto Condensed"/>
              <a:buChar char="■"/>
            </a:pPr>
            <a:r>
              <a:rPr b="1" lang="en" sz="2100" u="sng">
                <a:solidFill>
                  <a:srgbClr val="20124D"/>
                </a:solidFill>
                <a:latin typeface="Roboto Condensed"/>
                <a:ea typeface="Roboto Condensed"/>
                <a:cs typeface="Roboto Condensed"/>
                <a:sym typeface="Roboto Condensed"/>
              </a:rPr>
              <a:t>15 Amendment</a:t>
            </a:r>
            <a:r>
              <a:rPr lang="en" sz="2100">
                <a:solidFill>
                  <a:srgbClr val="20124D"/>
                </a:solidFill>
                <a:latin typeface="Roboto Condensed"/>
                <a:ea typeface="Roboto Condensed"/>
                <a:cs typeface="Roboto Condensed"/>
                <a:sym typeface="Roboto Condensed"/>
              </a:rPr>
              <a:t> (1870)= gives African-Americans the right to vote</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Despite whites finding loopholes to prevent many blacks from voting, thousands do</a:t>
            </a:r>
            <a:endParaRPr sz="2100">
              <a:solidFill>
                <a:srgbClr val="20124D"/>
              </a:solidFill>
              <a:latin typeface="Roboto Condensed"/>
              <a:ea typeface="Roboto Condensed"/>
              <a:cs typeface="Roboto Condensed"/>
              <a:sym typeface="Roboto Condensed"/>
            </a:endParaRPr>
          </a:p>
          <a:p>
            <a:pPr indent="-361950" lvl="1" marL="9144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Majority of voters in 5 states</a:t>
            </a:r>
            <a:endParaRPr sz="2100">
              <a:solidFill>
                <a:srgbClr val="20124D"/>
              </a:solidFill>
              <a:latin typeface="Roboto Condensed"/>
              <a:ea typeface="Roboto Condensed"/>
              <a:cs typeface="Roboto Condensed"/>
              <a:sym typeface="Roboto Condensed"/>
            </a:endParaRPr>
          </a:p>
          <a:p>
            <a:pPr indent="-361950" lvl="0" marL="457200" rtl="0" algn="l">
              <a:lnSpc>
                <a:spcPct val="115000"/>
              </a:lnSpc>
              <a:spcBef>
                <a:spcPts val="0"/>
              </a:spcBef>
              <a:spcAft>
                <a:spcPts val="0"/>
              </a:spcAft>
              <a:buClr>
                <a:srgbClr val="20124D"/>
              </a:buClr>
              <a:buSzPts val="2100"/>
              <a:buFont typeface="Roboto Condensed"/>
              <a:buChar char="■"/>
            </a:pPr>
            <a:r>
              <a:rPr lang="en" sz="2100">
                <a:solidFill>
                  <a:srgbClr val="20124D"/>
                </a:solidFill>
                <a:latin typeface="Roboto Condensed"/>
                <a:ea typeface="Roboto Condensed"/>
                <a:cs typeface="Roboto Condensed"/>
                <a:sym typeface="Roboto Condensed"/>
              </a:rPr>
              <a:t>1870-1876: 2000 black office holders are elected including 7 senators and representatives to DC</a:t>
            </a:r>
            <a:endParaRPr sz="2100">
              <a:solidFill>
                <a:srgbClr val="20124D"/>
              </a:solidFill>
              <a:latin typeface="Roboto Condensed"/>
              <a:ea typeface="Roboto Condensed"/>
              <a:cs typeface="Roboto Condensed"/>
              <a:sym typeface="Roboto Condensed"/>
            </a:endParaRPr>
          </a:p>
        </p:txBody>
      </p:sp>
      <p:pic>
        <p:nvPicPr>
          <p:cNvPr descr="Be Woke Presents Black History in Two Minutes (or so)&#10;https://blackhistoryintwominutes.com&#10;&#10;After the Civil War, the Reconstruction era brought about hope and change in the form of citizenship and equality in America. Black men were given the right to vote, and in 1870, Hiram Revels became the first African American in the U.S. Congress when he was elected to represent Mississippi in the Senate. What followed included more than 2,000 Black office holders serving at every level of America’s political system. Sadly, this progress was short-lived.&#10;&#10;Black men were denied access to the ballot box and the rights they were granted at the start of the Reconstruction period slowly diminished. In result, a Black presence in Congress was completely eradicated by 1901, and it would take a full generation for it to be restored. In this episode of Black History in Two Minutes or So, we’ll discuss the African-American achievements in the political system that were systematically overturned.&#10;&#10;Executive Producers: &#10;Robert F. Smith &#10;Henry Louis Gates Jr. &#10;Dyllan McGee &#10;&#10;Archival Materials Courtesy of: &#10;Archives and Records Services Division, Mississippi Department of Archives and History ASSOCIATED PRESS Brady-Handy photograph collection, Library of Congress, Prints &amp;amp; Photographs Division Cook Collection, The Valentine Everett Collection, Inc. Getty Images Library of Congress Prints &amp;amp; Photographs Division National Records and Archives Administration The Oklahoma Historical Society Sadie Dayton Photography U.S. Senate Collection Virginia State University Special Collections and Archives.&#10;&#10;Music by:&#10;Oovra Music&#10;&#10;Be Woke presents (https://bewoke.vote) is brought to you by Robert F. Smith and Deon Taylor.&#10;&#10;Please Subscribe to 'Black History in Two Minutes' Podcast!!&#10;&#10;Follow Black History in Two Minutes on Facebook&#10;https://www.facebook.com/blackhistoryintwominutes/&#10;&#10;Follow Black History in Two Minutes on Instagram&#10;https://www.instagram.com/blackhistoryintwominutes/&#10;&#10;Subscribe to Black History in Two Minutes Youtube Channel&#10;https://www.youtube.com/channel/UCYYNgeK89XFPu-7qUm8edqg&#10;&#10;'Black History in Two Minutes' is also available on Apple and Google podcasts." id="164" name="Google Shape;164;p25" title="Reconstruction: The Vote | Black History in Two Minutes (or so)">
            <a:hlinkClick r:id="rId4"/>
          </p:cNvPr>
          <p:cNvPicPr preferRelativeResize="0"/>
          <p:nvPr/>
        </p:nvPicPr>
        <p:blipFill>
          <a:blip r:embed="rId5">
            <a:alphaModFix/>
          </a:blip>
          <a:stretch>
            <a:fillRect/>
          </a:stretch>
        </p:blipFill>
        <p:spPr>
          <a:xfrm>
            <a:off x="5594250" y="2446450"/>
            <a:ext cx="3032626" cy="2274475"/>
          </a:xfrm>
          <a:prstGeom prst="rect">
            <a:avLst/>
          </a:prstGeom>
          <a:noFill/>
          <a:ln>
            <a:noFill/>
          </a:ln>
        </p:spPr>
      </p:pic>
      <p:pic>
        <p:nvPicPr>
          <p:cNvPr id="165" name="Google Shape;165;p25"/>
          <p:cNvPicPr preferRelativeResize="0"/>
          <p:nvPr/>
        </p:nvPicPr>
        <p:blipFill>
          <a:blip r:embed="rId6">
            <a:alphaModFix/>
          </a:blip>
          <a:stretch>
            <a:fillRect/>
          </a:stretch>
        </p:blipFill>
        <p:spPr>
          <a:xfrm>
            <a:off x="6005800" y="672000"/>
            <a:ext cx="2621076" cy="160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6"/>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71" name="Google Shape;171;p26"/>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p:nvPr/>
        </p:nvSpPr>
        <p:spPr>
          <a:xfrm>
            <a:off x="281350" y="271300"/>
            <a:ext cx="53934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EXPERIENCING FREEDOM</a:t>
            </a:r>
            <a:endParaRPr b="1" sz="3400">
              <a:solidFill>
                <a:schemeClr val="lt1"/>
              </a:solidFill>
              <a:latin typeface="Roboto Condensed"/>
              <a:ea typeface="Roboto Condensed"/>
              <a:cs typeface="Roboto Condensed"/>
              <a:sym typeface="Roboto Condensed"/>
            </a:endParaRPr>
          </a:p>
        </p:txBody>
      </p:sp>
      <p:sp>
        <p:nvSpPr>
          <p:cNvPr id="173" name="Google Shape;173;p26"/>
          <p:cNvSpPr txBox="1"/>
          <p:nvPr/>
        </p:nvSpPr>
        <p:spPr>
          <a:xfrm>
            <a:off x="425900" y="836850"/>
            <a:ext cx="4693500" cy="34482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For newly freed African-Americans, freedom meant mobility and control over their own labor</a:t>
            </a:r>
            <a:endParaRPr sz="1900">
              <a:solidFill>
                <a:srgbClr val="20124D"/>
              </a:solidFill>
              <a:latin typeface="Roboto Condensed"/>
              <a:ea typeface="Roboto Condensed"/>
              <a:cs typeface="Roboto Condensed"/>
              <a:sym typeface="Roboto Condensed"/>
            </a:endParaRPr>
          </a:p>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They adopted full names, including last names which usually came from former owners</a:t>
            </a:r>
            <a:endParaRPr sz="1900">
              <a:solidFill>
                <a:srgbClr val="20124D"/>
              </a:solidFill>
              <a:latin typeface="Roboto Condensed"/>
              <a:ea typeface="Roboto Condensed"/>
              <a:cs typeface="Roboto Condensed"/>
              <a:sym typeface="Roboto Condensed"/>
            </a:endParaRPr>
          </a:p>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Marriages were legalized and families often united</a:t>
            </a:r>
            <a:endParaRPr sz="1900">
              <a:solidFill>
                <a:srgbClr val="20124D"/>
              </a:solidFill>
              <a:latin typeface="Roboto Condensed"/>
              <a:ea typeface="Roboto Condensed"/>
              <a:cs typeface="Roboto Condensed"/>
              <a:sym typeface="Roboto Condensed"/>
            </a:endParaRPr>
          </a:p>
          <a:p>
            <a:pPr indent="-349250" lvl="0" marL="457200" rtl="0" algn="l">
              <a:lnSpc>
                <a:spcPct val="115000"/>
              </a:lnSpc>
              <a:spcBef>
                <a:spcPts val="0"/>
              </a:spcBef>
              <a:spcAft>
                <a:spcPts val="0"/>
              </a:spcAft>
              <a:buClr>
                <a:srgbClr val="20124D"/>
              </a:buClr>
              <a:buSzPts val="1900"/>
              <a:buFont typeface="Roboto Condensed"/>
              <a:buChar char="■"/>
            </a:pPr>
            <a:r>
              <a:rPr lang="en" sz="1900">
                <a:solidFill>
                  <a:srgbClr val="20124D"/>
                </a:solidFill>
                <a:latin typeface="Roboto Condensed"/>
                <a:ea typeface="Roboto Condensed"/>
                <a:cs typeface="Roboto Condensed"/>
                <a:sym typeface="Roboto Condensed"/>
              </a:rPr>
              <a:t>Black newspapers published ads taken out by family members in hopes of finding lost loved ones. </a:t>
            </a:r>
            <a:endParaRPr sz="1900">
              <a:solidFill>
                <a:srgbClr val="20124D"/>
              </a:solidFill>
              <a:latin typeface="Roboto Condensed"/>
              <a:ea typeface="Roboto Condensed"/>
              <a:cs typeface="Roboto Condensed"/>
              <a:sym typeface="Roboto Condensed"/>
            </a:endParaRPr>
          </a:p>
        </p:txBody>
      </p:sp>
      <p:pic>
        <p:nvPicPr>
          <p:cNvPr id="174" name="Google Shape;174;p26"/>
          <p:cNvPicPr preferRelativeResize="0"/>
          <p:nvPr/>
        </p:nvPicPr>
        <p:blipFill rotWithShape="1">
          <a:blip r:embed="rId4">
            <a:alphaModFix/>
          </a:blip>
          <a:srcRect b="3541" l="0" r="0" t="-1908"/>
          <a:stretch/>
        </p:blipFill>
        <p:spPr>
          <a:xfrm>
            <a:off x="5791300" y="362950"/>
            <a:ext cx="2835676" cy="2013274"/>
          </a:xfrm>
          <a:prstGeom prst="rect">
            <a:avLst/>
          </a:prstGeom>
          <a:noFill/>
          <a:ln>
            <a:noFill/>
          </a:ln>
        </p:spPr>
      </p:pic>
      <p:pic>
        <p:nvPicPr>
          <p:cNvPr id="175" name="Google Shape;175;p26"/>
          <p:cNvPicPr preferRelativeResize="0"/>
          <p:nvPr/>
        </p:nvPicPr>
        <p:blipFill>
          <a:blip r:embed="rId5">
            <a:alphaModFix/>
          </a:blip>
          <a:stretch>
            <a:fillRect/>
          </a:stretch>
        </p:blipFill>
        <p:spPr>
          <a:xfrm>
            <a:off x="5248950" y="2708250"/>
            <a:ext cx="3284850" cy="1847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7"/>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81" name="Google Shape;181;p27"/>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7"/>
          <p:cNvSpPr/>
          <p:nvPr/>
        </p:nvSpPr>
        <p:spPr>
          <a:xfrm>
            <a:off x="281350" y="271300"/>
            <a:ext cx="53934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SCHOOL &amp; CHURCH</a:t>
            </a:r>
            <a:endParaRPr b="1" sz="3400">
              <a:solidFill>
                <a:schemeClr val="lt1"/>
              </a:solidFill>
              <a:latin typeface="Roboto Condensed"/>
              <a:ea typeface="Roboto Condensed"/>
              <a:cs typeface="Roboto Condensed"/>
              <a:sym typeface="Roboto Condensed"/>
            </a:endParaRPr>
          </a:p>
        </p:txBody>
      </p:sp>
      <p:sp>
        <p:nvSpPr>
          <p:cNvPr id="183" name="Google Shape;183;p27"/>
          <p:cNvSpPr txBox="1"/>
          <p:nvPr/>
        </p:nvSpPr>
        <p:spPr>
          <a:xfrm>
            <a:off x="425900" y="836800"/>
            <a:ext cx="4681500" cy="3448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Both school and church became essential elements of black life</a:t>
            </a:r>
            <a:endParaRPr sz="1800">
              <a:solidFill>
                <a:srgbClr val="20124D"/>
              </a:solidFill>
              <a:latin typeface="Roboto Condensed"/>
              <a:ea typeface="Roboto Condensed"/>
              <a:cs typeface="Roboto Condensed"/>
              <a:sym typeface="Roboto Condensed"/>
            </a:endParaRPr>
          </a:p>
          <a:p>
            <a:pPr indent="-342900" lvl="0" marL="4572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At first, northern missionaries and the Freedmen’s Bureau set up schools → later, the black community set up their own</a:t>
            </a:r>
            <a:endParaRPr sz="1800">
              <a:solidFill>
                <a:srgbClr val="20124D"/>
              </a:solidFill>
              <a:latin typeface="Roboto Condensed"/>
              <a:ea typeface="Roboto Condensed"/>
              <a:cs typeface="Roboto Condensed"/>
              <a:sym typeface="Roboto Condensed"/>
            </a:endParaRPr>
          </a:p>
          <a:p>
            <a:pPr indent="-342900" lvl="1" marL="9144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Nearly ½ of kids were enrolled</a:t>
            </a:r>
            <a:endParaRPr sz="1800">
              <a:solidFill>
                <a:srgbClr val="20124D"/>
              </a:solidFill>
              <a:latin typeface="Roboto Condensed"/>
              <a:ea typeface="Roboto Condensed"/>
              <a:cs typeface="Roboto Condensed"/>
              <a:sym typeface="Roboto Condensed"/>
            </a:endParaRPr>
          </a:p>
          <a:p>
            <a:pPr indent="-342900" lvl="1" marL="9144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Adults also attended</a:t>
            </a:r>
            <a:endParaRPr sz="1800">
              <a:solidFill>
                <a:srgbClr val="20124D"/>
              </a:solidFill>
              <a:latin typeface="Roboto Condensed"/>
              <a:ea typeface="Roboto Condensed"/>
              <a:cs typeface="Roboto Condensed"/>
              <a:sym typeface="Roboto Condensed"/>
            </a:endParaRPr>
          </a:p>
          <a:p>
            <a:pPr indent="-342900" lvl="0" marL="4572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They also founded their own Methodist and Baptist churches</a:t>
            </a:r>
            <a:endParaRPr sz="1800">
              <a:solidFill>
                <a:srgbClr val="20124D"/>
              </a:solidFill>
              <a:latin typeface="Roboto Condensed"/>
              <a:ea typeface="Roboto Condensed"/>
              <a:cs typeface="Roboto Condensed"/>
              <a:sym typeface="Roboto Condensed"/>
            </a:endParaRPr>
          </a:p>
          <a:p>
            <a:pPr indent="-342900" lvl="1" marL="9144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Churches offered a place of refuge in a hostile while world → hope, comfort and voice</a:t>
            </a:r>
            <a:endParaRPr sz="1800">
              <a:solidFill>
                <a:srgbClr val="20124D"/>
              </a:solidFill>
              <a:latin typeface="Roboto Condensed"/>
              <a:ea typeface="Roboto Condensed"/>
              <a:cs typeface="Roboto Condensed"/>
              <a:sym typeface="Roboto Condensed"/>
            </a:endParaRPr>
          </a:p>
        </p:txBody>
      </p:sp>
      <p:pic>
        <p:nvPicPr>
          <p:cNvPr id="184" name="Google Shape;184;p27"/>
          <p:cNvPicPr preferRelativeResize="0"/>
          <p:nvPr/>
        </p:nvPicPr>
        <p:blipFill>
          <a:blip r:embed="rId4">
            <a:alphaModFix/>
          </a:blip>
          <a:stretch>
            <a:fillRect/>
          </a:stretch>
        </p:blipFill>
        <p:spPr>
          <a:xfrm>
            <a:off x="5771350" y="471450"/>
            <a:ext cx="2807250" cy="1812400"/>
          </a:xfrm>
          <a:prstGeom prst="rect">
            <a:avLst/>
          </a:prstGeom>
          <a:noFill/>
          <a:ln>
            <a:noFill/>
          </a:ln>
        </p:spPr>
      </p:pic>
      <p:pic>
        <p:nvPicPr>
          <p:cNvPr id="185" name="Google Shape;185;p27"/>
          <p:cNvPicPr preferRelativeResize="0"/>
          <p:nvPr/>
        </p:nvPicPr>
        <p:blipFill>
          <a:blip r:embed="rId5">
            <a:alphaModFix/>
          </a:blip>
          <a:stretch>
            <a:fillRect/>
          </a:stretch>
        </p:blipFill>
        <p:spPr>
          <a:xfrm>
            <a:off x="5771343" y="2444148"/>
            <a:ext cx="2807250" cy="21756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8"/>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191" name="Google Shape;191;p28"/>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8"/>
          <p:cNvSpPr/>
          <p:nvPr/>
        </p:nvSpPr>
        <p:spPr>
          <a:xfrm>
            <a:off x="281350" y="271300"/>
            <a:ext cx="53934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NEW WORKING CONDITIONS</a:t>
            </a:r>
            <a:endParaRPr b="1" sz="3400">
              <a:solidFill>
                <a:schemeClr val="lt1"/>
              </a:solidFill>
              <a:latin typeface="Roboto Condensed"/>
              <a:ea typeface="Roboto Condensed"/>
              <a:cs typeface="Roboto Condensed"/>
              <a:sym typeface="Roboto Condensed"/>
            </a:endParaRPr>
          </a:p>
        </p:txBody>
      </p:sp>
      <p:sp>
        <p:nvSpPr>
          <p:cNvPr id="193" name="Google Shape;193;p28"/>
          <p:cNvSpPr txBox="1"/>
          <p:nvPr/>
        </p:nvSpPr>
        <p:spPr>
          <a:xfrm>
            <a:off x="425900" y="782450"/>
            <a:ext cx="4681500" cy="3502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0124D"/>
              </a:buClr>
              <a:buSzPts val="1800"/>
              <a:buFont typeface="Roboto Condensed"/>
              <a:buChar char="■"/>
            </a:pPr>
            <a:r>
              <a:rPr b="1" lang="en" sz="1800" u="sng">
                <a:solidFill>
                  <a:srgbClr val="20124D"/>
                </a:solidFill>
                <a:latin typeface="Roboto Condensed"/>
                <a:ea typeface="Roboto Condensed"/>
                <a:cs typeface="Roboto Condensed"/>
                <a:sym typeface="Roboto Condensed"/>
              </a:rPr>
              <a:t>Sharecropping</a:t>
            </a:r>
            <a:r>
              <a:rPr lang="en" sz="1800">
                <a:solidFill>
                  <a:srgbClr val="20124D"/>
                </a:solidFill>
                <a:latin typeface="Roboto Condensed"/>
                <a:ea typeface="Roboto Condensed"/>
                <a:cs typeface="Roboto Condensed"/>
                <a:sym typeface="Roboto Condensed"/>
              </a:rPr>
              <a:t>= black families farmed plots on white-owned land and divided the crop @ end of season </a:t>
            </a:r>
            <a:endParaRPr sz="1800">
              <a:solidFill>
                <a:srgbClr val="20124D"/>
              </a:solidFill>
              <a:latin typeface="Roboto Condensed"/>
              <a:ea typeface="Roboto Condensed"/>
              <a:cs typeface="Roboto Condensed"/>
              <a:sym typeface="Roboto Condensed"/>
            </a:endParaRPr>
          </a:p>
          <a:p>
            <a:pPr indent="-342900" lvl="1" marL="9144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Ownership of a crop was hugely symbolic</a:t>
            </a:r>
            <a:endParaRPr sz="1800">
              <a:solidFill>
                <a:srgbClr val="20124D"/>
              </a:solidFill>
              <a:latin typeface="Roboto Condensed"/>
              <a:ea typeface="Roboto Condensed"/>
              <a:cs typeface="Roboto Condensed"/>
              <a:sym typeface="Roboto Condensed"/>
            </a:endParaRPr>
          </a:p>
          <a:p>
            <a:pPr indent="-342900" lvl="0" marL="4572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Many whites required tenants to purchase seeds and tools from them for marked up prices → often went into debt</a:t>
            </a:r>
            <a:endParaRPr sz="1800">
              <a:solidFill>
                <a:srgbClr val="20124D"/>
              </a:solidFill>
              <a:latin typeface="Roboto Condensed"/>
              <a:ea typeface="Roboto Condensed"/>
              <a:cs typeface="Roboto Condensed"/>
              <a:sym typeface="Roboto Condensed"/>
            </a:endParaRPr>
          </a:p>
          <a:p>
            <a:pPr indent="-342900" lvl="0" marL="4572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Had to stay and work for free until “debt” was paid down; slavery by another name?</a:t>
            </a:r>
            <a:endParaRPr sz="1800">
              <a:solidFill>
                <a:srgbClr val="20124D"/>
              </a:solidFill>
              <a:latin typeface="Roboto Condensed"/>
              <a:ea typeface="Roboto Condensed"/>
              <a:cs typeface="Roboto Condensed"/>
              <a:sym typeface="Roboto Condensed"/>
            </a:endParaRPr>
          </a:p>
          <a:p>
            <a:pPr indent="-342900" lvl="1" marL="914400" rtl="0" algn="l">
              <a:lnSpc>
                <a:spcPct val="115000"/>
              </a:lnSpc>
              <a:spcBef>
                <a:spcPts val="0"/>
              </a:spcBef>
              <a:spcAft>
                <a:spcPts val="0"/>
              </a:spcAft>
              <a:buClr>
                <a:srgbClr val="20124D"/>
              </a:buClr>
              <a:buSzPts val="1800"/>
              <a:buFont typeface="Roboto Condensed"/>
              <a:buChar char="○"/>
            </a:pPr>
            <a:r>
              <a:rPr lang="en" sz="1800">
                <a:solidFill>
                  <a:srgbClr val="20124D"/>
                </a:solidFill>
                <a:latin typeface="Roboto Condensed"/>
                <a:ea typeface="Roboto Condensed"/>
                <a:cs typeface="Roboto Condensed"/>
                <a:sym typeface="Roboto Condensed"/>
              </a:rPr>
              <a:t>Those who tried to leave could be arrested by Freedmen’s Bureau</a:t>
            </a:r>
            <a:endParaRPr sz="1800">
              <a:solidFill>
                <a:srgbClr val="20124D"/>
              </a:solidFill>
              <a:latin typeface="Roboto Condensed"/>
              <a:ea typeface="Roboto Condensed"/>
              <a:cs typeface="Roboto Condensed"/>
              <a:sym typeface="Roboto Condensed"/>
            </a:endParaRPr>
          </a:p>
        </p:txBody>
      </p:sp>
      <p:pic>
        <p:nvPicPr>
          <p:cNvPr id="194" name="Google Shape;194;p28"/>
          <p:cNvPicPr preferRelativeResize="0"/>
          <p:nvPr/>
        </p:nvPicPr>
        <p:blipFill>
          <a:blip r:embed="rId4">
            <a:alphaModFix/>
          </a:blip>
          <a:stretch>
            <a:fillRect/>
          </a:stretch>
        </p:blipFill>
        <p:spPr>
          <a:xfrm>
            <a:off x="5073075" y="2310725"/>
            <a:ext cx="3734924" cy="2375825"/>
          </a:xfrm>
          <a:prstGeom prst="rect">
            <a:avLst/>
          </a:prstGeom>
          <a:noFill/>
          <a:ln>
            <a:noFill/>
          </a:ln>
        </p:spPr>
      </p:pic>
      <p:pic>
        <p:nvPicPr>
          <p:cNvPr id="195" name="Google Shape;195;p28"/>
          <p:cNvPicPr preferRelativeResize="0"/>
          <p:nvPr/>
        </p:nvPicPr>
        <p:blipFill>
          <a:blip r:embed="rId5">
            <a:alphaModFix/>
          </a:blip>
          <a:stretch>
            <a:fillRect/>
          </a:stretch>
        </p:blipFill>
        <p:spPr>
          <a:xfrm>
            <a:off x="5708650" y="553050"/>
            <a:ext cx="2973798" cy="14869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9"/>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201" name="Google Shape;201;p29"/>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9"/>
          <p:cNvSpPr/>
          <p:nvPr/>
        </p:nvSpPr>
        <p:spPr>
          <a:xfrm>
            <a:off x="281350" y="271300"/>
            <a:ext cx="53934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NEW WORKING CONDITIONS</a:t>
            </a:r>
            <a:endParaRPr b="1" sz="3400">
              <a:solidFill>
                <a:schemeClr val="lt1"/>
              </a:solidFill>
              <a:latin typeface="Roboto Condensed"/>
              <a:ea typeface="Roboto Condensed"/>
              <a:cs typeface="Roboto Condensed"/>
              <a:sym typeface="Roboto Condensed"/>
            </a:endParaRPr>
          </a:p>
        </p:txBody>
      </p:sp>
      <p:sp>
        <p:nvSpPr>
          <p:cNvPr id="203" name="Google Shape;203;p29"/>
          <p:cNvSpPr txBox="1"/>
          <p:nvPr/>
        </p:nvSpPr>
        <p:spPr>
          <a:xfrm>
            <a:off x="456100" y="758300"/>
            <a:ext cx="4536600" cy="35028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White landowners often chased sharecroppers off land when it was time to pay for their portion of the crop</a:t>
            </a:r>
            <a:endParaRPr sz="2000">
              <a:solidFill>
                <a:srgbClr val="20124D"/>
              </a:solidFill>
              <a:latin typeface="Roboto Condensed"/>
              <a:ea typeface="Roboto Condensed"/>
              <a:cs typeface="Roboto Condensed"/>
              <a:sym typeface="Roboto Condensed"/>
            </a:endParaRPr>
          </a:p>
          <a:p>
            <a:pPr indent="-355600" lvl="0" marL="457200" rtl="0" algn="l">
              <a:lnSpc>
                <a:spcPct val="115000"/>
              </a:lnSpc>
              <a:spcBef>
                <a:spcPts val="0"/>
              </a:spcBef>
              <a:spcAft>
                <a:spcPts val="0"/>
              </a:spcAft>
              <a:buClr>
                <a:srgbClr val="20124D"/>
              </a:buClr>
              <a:buSzPts val="2000"/>
              <a:buFont typeface="Roboto Condensed"/>
              <a:buChar char="■"/>
            </a:pPr>
            <a:r>
              <a:rPr b="1" lang="en" sz="2000">
                <a:solidFill>
                  <a:srgbClr val="20124D"/>
                </a:solidFill>
                <a:latin typeface="Roboto Condensed"/>
                <a:ea typeface="Roboto Condensed"/>
                <a:cs typeface="Roboto Condensed"/>
                <a:sym typeface="Roboto Condensed"/>
              </a:rPr>
              <a:t>Black codes</a:t>
            </a:r>
            <a:r>
              <a:rPr lang="en" sz="2000">
                <a:solidFill>
                  <a:srgbClr val="20124D"/>
                </a:solidFill>
                <a:latin typeface="Roboto Condensed"/>
                <a:ea typeface="Roboto Condensed"/>
                <a:cs typeface="Roboto Condensed"/>
                <a:sym typeface="Roboto Condensed"/>
              </a:rPr>
              <a:t> included </a:t>
            </a:r>
            <a:r>
              <a:rPr b="1" lang="en" sz="2000" u="sng">
                <a:solidFill>
                  <a:srgbClr val="20124D"/>
                </a:solidFill>
                <a:latin typeface="Roboto Condensed"/>
                <a:ea typeface="Roboto Condensed"/>
                <a:cs typeface="Roboto Condensed"/>
                <a:sym typeface="Roboto Condensed"/>
              </a:rPr>
              <a:t>vagrancy laws </a:t>
            </a:r>
            <a:r>
              <a:rPr lang="en" sz="2000">
                <a:solidFill>
                  <a:srgbClr val="20124D"/>
                </a:solidFill>
                <a:latin typeface="Roboto Condensed"/>
                <a:ea typeface="Roboto Condensed"/>
                <a:cs typeface="Roboto Condensed"/>
                <a:sym typeface="Roboto Condensed"/>
              </a:rPr>
              <a:t>that allowed police to arrest any African-American found not to have a job</a:t>
            </a:r>
            <a:endParaRPr sz="2000">
              <a:solidFill>
                <a:srgbClr val="20124D"/>
              </a:solidFill>
              <a:latin typeface="Roboto Condensed"/>
              <a:ea typeface="Roboto Condensed"/>
              <a:cs typeface="Roboto Condensed"/>
              <a:sym typeface="Roboto Condensed"/>
            </a:endParaRPr>
          </a:p>
          <a:p>
            <a:pPr indent="-355600" lvl="1" marL="914400" rtl="0" algn="l">
              <a:lnSpc>
                <a:spcPct val="115000"/>
              </a:lnSpc>
              <a:spcBef>
                <a:spcPts val="0"/>
              </a:spcBef>
              <a:spcAft>
                <a:spcPts val="0"/>
              </a:spcAft>
              <a:buClr>
                <a:srgbClr val="20124D"/>
              </a:buClr>
              <a:buSzPts val="2000"/>
              <a:buFont typeface="Roboto Condensed"/>
              <a:buChar char="○"/>
            </a:pPr>
            <a:r>
              <a:rPr lang="en" sz="2000">
                <a:solidFill>
                  <a:srgbClr val="20124D"/>
                </a:solidFill>
                <a:latin typeface="Roboto Condensed"/>
                <a:ea typeface="Roboto Condensed"/>
                <a:cs typeface="Roboto Condensed"/>
                <a:sym typeface="Roboto Condensed"/>
              </a:rPr>
              <a:t>Those prisoners often found themselves </a:t>
            </a:r>
            <a:r>
              <a:rPr b="1" lang="en" sz="2000">
                <a:solidFill>
                  <a:srgbClr val="20124D"/>
                </a:solidFill>
                <a:latin typeface="Roboto Condensed"/>
                <a:ea typeface="Roboto Condensed"/>
                <a:cs typeface="Roboto Condensed"/>
                <a:sym typeface="Roboto Condensed"/>
              </a:rPr>
              <a:t>contracted out as labor </a:t>
            </a:r>
            <a:r>
              <a:rPr lang="en" sz="2000">
                <a:solidFill>
                  <a:srgbClr val="20124D"/>
                </a:solidFill>
                <a:latin typeface="Roboto Condensed"/>
                <a:ea typeface="Roboto Condensed"/>
                <a:cs typeface="Roboto Condensed"/>
                <a:sym typeface="Roboto Condensed"/>
              </a:rPr>
              <a:t>by the police to local white farmers</a:t>
            </a:r>
            <a:endParaRPr sz="2000">
              <a:solidFill>
                <a:srgbClr val="20124D"/>
              </a:solidFill>
              <a:latin typeface="Roboto Condensed"/>
              <a:ea typeface="Roboto Condensed"/>
              <a:cs typeface="Roboto Condensed"/>
              <a:sym typeface="Roboto Condensed"/>
            </a:endParaRPr>
          </a:p>
        </p:txBody>
      </p:sp>
      <p:pic>
        <p:nvPicPr>
          <p:cNvPr id="204" name="Google Shape;204;p29"/>
          <p:cNvPicPr preferRelativeResize="0"/>
          <p:nvPr/>
        </p:nvPicPr>
        <p:blipFill>
          <a:blip r:embed="rId4">
            <a:alphaModFix/>
          </a:blip>
          <a:stretch>
            <a:fillRect/>
          </a:stretch>
        </p:blipFill>
        <p:spPr>
          <a:xfrm>
            <a:off x="5799525" y="522875"/>
            <a:ext cx="2850900" cy="1603625"/>
          </a:xfrm>
          <a:prstGeom prst="rect">
            <a:avLst/>
          </a:prstGeom>
          <a:noFill/>
          <a:ln>
            <a:noFill/>
          </a:ln>
        </p:spPr>
      </p:pic>
      <p:pic>
        <p:nvPicPr>
          <p:cNvPr id="205" name="Google Shape;205;p29"/>
          <p:cNvPicPr preferRelativeResize="0"/>
          <p:nvPr/>
        </p:nvPicPr>
        <p:blipFill>
          <a:blip r:embed="rId5">
            <a:alphaModFix/>
          </a:blip>
          <a:stretch>
            <a:fillRect/>
          </a:stretch>
        </p:blipFill>
        <p:spPr>
          <a:xfrm>
            <a:off x="5709028" y="2546625"/>
            <a:ext cx="2821274" cy="2050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0"/>
          <p:cNvPicPr preferRelativeResize="0"/>
          <p:nvPr/>
        </p:nvPicPr>
        <p:blipFill>
          <a:blip r:embed="rId3">
            <a:alphaModFix/>
          </a:blip>
          <a:stretch>
            <a:fillRect/>
          </a:stretch>
        </p:blipFill>
        <p:spPr>
          <a:xfrm>
            <a:off x="0" y="5650"/>
            <a:ext cx="9144000" cy="5143500"/>
          </a:xfrm>
          <a:prstGeom prst="rect">
            <a:avLst/>
          </a:prstGeom>
          <a:noFill/>
          <a:ln>
            <a:noFill/>
          </a:ln>
        </p:spPr>
      </p:pic>
      <p:sp>
        <p:nvSpPr>
          <p:cNvPr id="211" name="Google Shape;211;p30"/>
          <p:cNvSpPr/>
          <p:nvPr/>
        </p:nvSpPr>
        <p:spPr>
          <a:xfrm>
            <a:off x="281350" y="271300"/>
            <a:ext cx="8550900" cy="4612200"/>
          </a:xfrm>
          <a:prstGeom prst="rect">
            <a:avLst/>
          </a:prstGeom>
          <a:noFill/>
          <a:ln cap="flat" cmpd="sng" w="762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0"/>
          <p:cNvSpPr/>
          <p:nvPr/>
        </p:nvSpPr>
        <p:spPr>
          <a:xfrm>
            <a:off x="281350" y="271300"/>
            <a:ext cx="5393400" cy="4599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Roboto Condensed"/>
                <a:ea typeface="Roboto Condensed"/>
                <a:cs typeface="Roboto Condensed"/>
                <a:sym typeface="Roboto Condensed"/>
              </a:rPr>
              <a:t>THE FREEDMAN’S BANK</a:t>
            </a:r>
            <a:endParaRPr b="1" sz="3400">
              <a:solidFill>
                <a:schemeClr val="lt1"/>
              </a:solidFill>
              <a:latin typeface="Roboto Condensed"/>
              <a:ea typeface="Roboto Condensed"/>
              <a:cs typeface="Roboto Condensed"/>
              <a:sym typeface="Roboto Condensed"/>
            </a:endParaRPr>
          </a:p>
        </p:txBody>
      </p:sp>
      <p:pic>
        <p:nvPicPr>
          <p:cNvPr descr="Be Woke Presents Black History in Two Minutes (or so)&#10;https://blackhistoryintwominutes.com&#10;&#10;In 1865, after the north won the Civil War, the government opened the Freedman’s Bank. This institution was geared towards nearly four million, newly freed black people. The objective was clear: provide a federally protected place for black workers to place their funds.&#10;&#10;By 1871, 37 branches were open in the US, with over 70,000 people depositing $60 million into this bank. This was particularly amazing considering the limited amount of wealth many emancipated blacks had just years earlier. But in 1873, a great depression happened, shifting the economy and heightening tensions nationally.&#10;&#10;Hosted by Henry Louis Gates Jr. — with additional commentary from Hasan Jeffries and Vincent Brown — we look at what many would consider to be one of the leading causes of generational distrust in banking institutions for black families across the United States.&#10;&#10;Archival Materials Courtesy of:&#10;Alamy Images&#10;Getty Images&#10;&#10;Executive Producers:&#10;Robert F. Smith&#10;Henry Louis Gates Jr.&#10;Dyllan McGee&#10;Deon Taylor&#10;&#10;Music By:&#10;Oovra Music&#10;&#10;Be Woke presents is brought to you by Robert F. Smith and Deon Taylor.&#10;&#10;Follow Black History in Two Minutes on Facebook&#10;https://www.facebook.com/blackhistoryintwominutes/&#10;&#10;Follow Black History in Two Minutes on Instagram&#10;https://www.instagram.com/blackhistoryintwominutes/&#10;&#10;Subscribe to Black History in Two Minutes Youtube Channel&#10;https://www.youtube.com/channel/UCYYNgeK89XFPu-7qUm8edqg&#10;&#10;'Black History in Two Minutes' is also available on Apple and Google podcasts." id="213" name="Google Shape;213;p30" title="Freedman's Bank | Black History in Two Minutes (or so)">
            <a:hlinkClick r:id="rId4"/>
          </p:cNvPr>
          <p:cNvPicPr preferRelativeResize="0"/>
          <p:nvPr/>
        </p:nvPicPr>
        <p:blipFill>
          <a:blip r:embed="rId5">
            <a:alphaModFix/>
          </a:blip>
          <a:stretch>
            <a:fillRect/>
          </a:stretch>
        </p:blipFill>
        <p:spPr>
          <a:xfrm>
            <a:off x="5056975" y="1385450"/>
            <a:ext cx="3545776" cy="2659325"/>
          </a:xfrm>
          <a:prstGeom prst="rect">
            <a:avLst/>
          </a:prstGeom>
          <a:noFill/>
          <a:ln>
            <a:noFill/>
          </a:ln>
        </p:spPr>
      </p:pic>
      <p:sp>
        <p:nvSpPr>
          <p:cNvPr id="214" name="Google Shape;214;p30"/>
          <p:cNvSpPr txBox="1"/>
          <p:nvPr/>
        </p:nvSpPr>
        <p:spPr>
          <a:xfrm>
            <a:off x="425900" y="1042050"/>
            <a:ext cx="4693500" cy="324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20124D"/>
                </a:solidFill>
                <a:latin typeface="Roboto Condensed"/>
                <a:ea typeface="Roboto Condensed"/>
                <a:cs typeface="Roboto Condensed"/>
                <a:sym typeface="Roboto Condensed"/>
              </a:rPr>
              <a:t>The Freedman’s Bank,</a:t>
            </a:r>
            <a:r>
              <a:rPr lang="en" sz="2400">
                <a:solidFill>
                  <a:srgbClr val="20124D"/>
                </a:solidFill>
                <a:latin typeface="Roboto Condensed"/>
                <a:ea typeface="Roboto Condensed"/>
                <a:cs typeface="Roboto Condensed"/>
                <a:sym typeface="Roboto Condensed"/>
              </a:rPr>
              <a:t> initially introduced hope to the Black community, but over time, and with an economic depression in 1873, it showed that any progress African-Americans had seen from 1865- 1873, was in serious jeopardy as Reconstruction came to a close.</a:t>
            </a:r>
            <a:endParaRPr sz="2400">
              <a:solidFill>
                <a:srgbClr val="20124D"/>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218" name="Shape 218"/>
        <p:cNvGrpSpPr/>
        <p:nvPr/>
      </p:nvGrpSpPr>
      <p:grpSpPr>
        <a:xfrm>
          <a:off x="0" y="0"/>
          <a:ext cx="0" cy="0"/>
          <a:chOff x="0" y="0"/>
          <a:chExt cx="0" cy="0"/>
        </a:xfrm>
      </p:grpSpPr>
      <p:sp>
        <p:nvSpPr>
          <p:cNvPr id="219" name="Google Shape;219;p31"/>
          <p:cNvSpPr txBox="1"/>
          <p:nvPr/>
        </p:nvSpPr>
        <p:spPr>
          <a:xfrm>
            <a:off x="492300" y="834150"/>
            <a:ext cx="8238000" cy="347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4100">
                <a:solidFill>
                  <a:srgbClr val="FFFFFF"/>
                </a:solidFill>
              </a:rPr>
              <a:t>What was one effect of the black codes and vagrancy laws during Reconstruction?</a:t>
            </a:r>
            <a:endParaRPr b="1" sz="4100">
              <a:solidFill>
                <a:srgbClr val="FFFFFF"/>
              </a:solidFill>
            </a:endParaRPr>
          </a:p>
        </p:txBody>
      </p:sp>
      <p:pic>
        <p:nvPicPr>
          <p:cNvPr descr="This is a Pear Deck interactive slide. Students, choose your response." id="220" name="Google Shape;220;p31" title="This is a Pear Deck interactive slide. Students, choose your response.">
            <a:hlinkClick r:id="rId3"/>
          </p:cNvPr>
          <p:cNvPicPr preferRelativeResize="0"/>
          <p:nvPr/>
        </p:nvPicPr>
        <p:blipFill>
          <a:blip r:embed="rId4">
            <a:alphaModFix/>
          </a:blip>
          <a:stretch>
            <a:fillRect/>
          </a:stretch>
        </p:blipFill>
        <p:spPr>
          <a:xfrm>
            <a:off x="0" y="4429125"/>
            <a:ext cx="9144000" cy="714375"/>
          </a:xfrm>
          <a:prstGeom prst="rect">
            <a:avLst/>
          </a:prstGeom>
          <a:noFill/>
          <a:ln>
            <a:noFill/>
          </a:ln>
        </p:spPr>
      </p:pic>
      <p:sp>
        <p:nvSpPr>
          <p:cNvPr id="221" name="Google Shape;221;p31">
            <a:hlinkClick r:id="rId5"/>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